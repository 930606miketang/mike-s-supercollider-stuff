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70" r:id="rId7"/>
    <p:sldId id="289" r:id="rId8"/>
    <p:sldId id="298" r:id="rId9"/>
    <p:sldId id="299" r:id="rId10"/>
    <p:sldId id="300" r:id="rId11"/>
    <p:sldId id="264" r:id="rId12"/>
    <p:sldId id="258" r:id="rId13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A7E82A-240E-4875-9ABB-C4BFFBB4EB4D}" v="2086" dt="2026-03-11T20:53:15.594"/>
    <p1510:client id="{D2C10A04-49E0-88BF-EBB6-B0BFA4970F34}" v="5" dt="2026-03-11T18:10:13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30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40" y="16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76FB3A4-D5D4-495C-AAA0-94A56026E627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2026/3/11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06E7358-DB18-48DD-91BC-D4D36CB91577}" type="datetime1">
              <a:rPr lang="zh-TW" altLang="en-US" noProof="0" smtClean="0"/>
              <a:t>2026/3/11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4B9A9E5-4F7F-4A7D-9DE1-89923232926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8302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4651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32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0317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BB023-9CAA-39CC-51CD-BD9B2D1FC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3F4C5E1-28CC-EC4C-068C-F99720CE8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1162628-D947-B228-53C6-9725B7198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4361A5-4A1F-87CC-D989-79E2246E3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5588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4FBE-D07D-012C-B1E0-C52ABADB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820EC50-B947-FD32-A1FB-BE0D5AB31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E2B5ED3-23F6-49FB-4F1D-E676A7985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4913EE-48FD-2B54-1EF8-467DC64C6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6623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C046-AD06-0F0F-C9C2-85EA383E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793B671-83CE-FEA9-E204-616388711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9AA6A6-A6FC-9C75-B485-20E744A99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50F83F-56F3-E5BB-0454-5EDB0CE3B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0424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3616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025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議程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形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  <a:p>
            <a:pPr lvl="1" rtl="0"/>
            <a:r>
              <a:rPr lang="en-US" altLang="zh-TW" noProof="0"/>
              <a:t>Second level</a:t>
            </a:r>
          </a:p>
          <a:p>
            <a:pPr lvl="2" rtl="0"/>
            <a:r>
              <a:rPr lang="en-US" altLang="zh-TW" noProof="0"/>
              <a:t>Third level</a:t>
            </a:r>
          </a:p>
          <a:p>
            <a:pPr lvl="3" rtl="0"/>
            <a:r>
              <a:rPr lang="en-US" altLang="zh-TW" noProof="0"/>
              <a:t>Fourth level</a:t>
            </a:r>
          </a:p>
          <a:p>
            <a:pPr lvl="4" rtl="0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時間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形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zh-TW" altLang="en-US" noProof="0"/>
              <a:t>按一下以編輯標題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7" name="文字版面配置區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8" name="文字版面配置區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9" name="文字版面配置區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34" name="文字版面配置區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35" name="文字版面配置區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36" name="文字版面配置區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37" name="文字版面配置區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cxnSp>
        <p:nvCxnSpPr>
          <p:cNvPr id="3" name="直線接點​​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直線接點​​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algn="l"/>
            <a:r>
              <a:rPr lang="zh-TW" altLang="en-US" noProof="0"/>
              <a:t>募資簡報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 2 欄位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15" name="文字版面配置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7" name="文字版面配置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1" name="文字版面配置區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noProof="0"/>
              <a:t>按一下以新增副標題</a:t>
            </a:r>
          </a:p>
        </p:txBody>
      </p:sp>
      <p:sp>
        <p:nvSpPr>
          <p:cNvPr id="32" name="文字版面配置區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3" name="文字版面配置區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noProof="0"/>
              <a:t>按一下以新增副標題</a:t>
            </a:r>
          </a:p>
        </p:txBody>
      </p:sp>
      <p:sp>
        <p:nvSpPr>
          <p:cNvPr id="34" name="文字版面配置區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2" name="文字版面配置區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TW" altLang="en-US" noProof="0"/>
              <a:t>按一下以新增副標題</a:t>
            </a:r>
          </a:p>
        </p:txBody>
      </p:sp>
      <p:sp>
        <p:nvSpPr>
          <p:cNvPr id="13" name="文字版面配置區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2" name="直線接點​​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​​(S)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 3 欄位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15" name="文字版面配置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7" name="文字版面配置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8" name="文字版面配置區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9" name="文字版面配置區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0" name="文字版面配置區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3" name="文字版面配置區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4" name="文字版面配置區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pic>
        <p:nvPicPr>
          <p:cNvPr id="2" name="圖形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簡介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​​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版面配置區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0" name="頁尾版面配置區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1" name="投影片編號版面配置區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節符號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版面配置區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2" name="文字版面配置區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3" name="文字版面配置區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4" name="文字版面配置區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5" name="文字版面配置區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6" name="文字版面配置區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17" name="日期版面配置區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8" name="頁尾版面配置區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9" name="投影片編號版面配置區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個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  <a:p>
            <a:pPr lvl="1" rtl="0"/>
            <a:r>
              <a:rPr lang="en-US" altLang="zh-TW" noProof="0"/>
              <a:t>Second level</a:t>
            </a:r>
          </a:p>
          <a:p>
            <a:pPr lvl="2" rtl="0"/>
            <a:r>
              <a:rPr lang="en-US" altLang="zh-TW" noProof="0"/>
              <a:t>Third level</a:t>
            </a:r>
          </a:p>
          <a:p>
            <a:pPr lvl="3" rtl="0"/>
            <a:r>
              <a:rPr lang="en-US" altLang="zh-TW" noProof="0"/>
              <a:t>Fourth level</a:t>
            </a:r>
          </a:p>
          <a:p>
            <a:pPr lvl="4" rtl="0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 noProof="0"/>
              <a:t>Click to edit Master text styles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  <a:p>
            <a:pPr lvl="1" rtl="0"/>
            <a:r>
              <a:rPr lang="en-US" altLang="zh-TW" noProof="0"/>
              <a:t>Second level</a:t>
            </a:r>
          </a:p>
          <a:p>
            <a:pPr lvl="2" rtl="0"/>
            <a:r>
              <a:rPr lang="en-US" altLang="zh-TW" noProof="0"/>
              <a:t>Third level</a:t>
            </a:r>
          </a:p>
          <a:p>
            <a:pPr lvl="3" rtl="0"/>
            <a:r>
              <a:rPr lang="en-US" altLang="zh-TW" noProof="0"/>
              <a:t>Fourth level</a:t>
            </a:r>
          </a:p>
          <a:p>
            <a:pPr lvl="4" rtl="0"/>
            <a:r>
              <a:rPr lang="en-US" altLang="zh-TW" noProof="0"/>
              <a:t>Fifth level</a:t>
            </a:r>
            <a:endParaRPr lang="zh-TW" altLang="en-US" noProof="0"/>
          </a:p>
        </p:txBody>
      </p:sp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版面配置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2" name="內容版面配置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  <a:p>
            <a:pPr lvl="1" rtl="0"/>
            <a:r>
              <a:rPr lang="en-US" altLang="zh-TW" noProof="0"/>
              <a:t>Second level</a:t>
            </a:r>
          </a:p>
          <a:p>
            <a:pPr lvl="2" rtl="0"/>
            <a:r>
              <a:rPr lang="en-US" altLang="zh-TW" noProof="0"/>
              <a:t>Third level</a:t>
            </a:r>
          </a:p>
          <a:p>
            <a:pPr lvl="3" rtl="0"/>
            <a:r>
              <a:rPr lang="en-US" altLang="zh-TW" noProof="0"/>
              <a:t>Fourth level</a:t>
            </a:r>
          </a:p>
          <a:p>
            <a:pPr lvl="4" rtl="0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內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圖形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圖形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3" name="文字版面配置區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4" name="文字版面配置區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5" name="內容版面配置區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6" name="內容版面配置區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  <a:p>
            <a:pPr lvl="1" rtl="0"/>
            <a:r>
              <a:rPr lang="en-US" altLang="zh-TW" noProof="0"/>
              <a:t>Second level</a:t>
            </a:r>
          </a:p>
        </p:txBody>
      </p:sp>
      <p:sp>
        <p:nvSpPr>
          <p:cNvPr id="22" name="內容版面配置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7" name="內容版面配置區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兩項內容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  <a:p>
            <a:pPr lvl="1" rtl="0"/>
            <a:r>
              <a:rPr lang="en-US" altLang="zh-TW" noProof="0"/>
              <a:t>Second level</a:t>
            </a:r>
          </a:p>
          <a:p>
            <a:pPr lvl="2" rtl="0"/>
            <a:r>
              <a:rPr lang="en-US" altLang="zh-TW" noProof="0"/>
              <a:t>Third level</a:t>
            </a:r>
          </a:p>
          <a:p>
            <a:pPr lvl="3" rtl="0"/>
            <a:r>
              <a:rPr lang="en-US" altLang="zh-TW" noProof="0"/>
              <a:t>Fourth level</a:t>
            </a:r>
          </a:p>
          <a:p>
            <a:pPr lvl="4" rtl="0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 noProof="0"/>
              <a:t>Click to edit Master text styles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  <a:p>
            <a:pPr lvl="1" rtl="0"/>
            <a:r>
              <a:rPr lang="en-US" altLang="zh-TW" noProof="0"/>
              <a:t>Second level</a:t>
            </a:r>
          </a:p>
          <a:p>
            <a:pPr lvl="2" rtl="0"/>
            <a:r>
              <a:rPr lang="en-US" altLang="zh-TW" noProof="0"/>
              <a:t>Third level</a:t>
            </a:r>
          </a:p>
          <a:p>
            <a:pPr lvl="3" rtl="0"/>
            <a:r>
              <a:rPr lang="en-US" altLang="zh-TW" noProof="0"/>
              <a:t>Fourth level</a:t>
            </a:r>
          </a:p>
          <a:p>
            <a:pPr lvl="4" rtl="0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象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標題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​​(S)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8" name="文字版面配置區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26" name="文字版面配置區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23" name="文字版面配置區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7" name="文字版面配置區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20" name="文字版面配置區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9" name="文字版面配置區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21" name="文字版面配置區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16" name="文字版面配置區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22" name="文字版面配置區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按一下以新增姓名</a:t>
            </a:r>
          </a:p>
        </p:txBody>
      </p:sp>
      <p:sp>
        <p:nvSpPr>
          <p:cNvPr id="31" name="日期版面配置區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32" name="頁尾版面配置區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33" name="投影片編號版面配置區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形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標題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20" name="文字版面配置區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5" name="文字版面配置區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6" name="文字版面配置區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7" name="文字版面配置區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8" name="文字版面配置區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9" name="文字版面配置區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21" name="日期版面配置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22" name="頁尾版面配置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24" name="投影片編號版面配置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表​​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7" name="圖表預留位置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chart</a:t>
            </a:r>
            <a:endParaRPr lang="zh-TW" altLang="en-US" noProof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3" name="內容版面配置區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6" name="文字版面配置區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年份</a:t>
            </a:r>
          </a:p>
        </p:txBody>
      </p:sp>
      <p:sp>
        <p:nvSpPr>
          <p:cNvPr id="7" name="文字版面配置區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8" name="文字版面配置區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9" name="文字版面配置區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0" name="文字版面配置區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3" name="文字版面配置區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6" name="文字版面配置區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7" name="文字版面配置區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8" name="文字版面配置區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9" name="文字版面配置區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年份</a:t>
            </a:r>
          </a:p>
        </p:txBody>
      </p:sp>
      <p:sp>
        <p:nvSpPr>
          <p:cNvPr id="20" name="文字版面配置區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1" name="文字版面配置區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2" name="文字版面配置區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3" name="文字版面配置區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4" name="文字版面配置區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5" name="文字版面配置區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6" name="文字版面配置區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8" name="文字版面配置區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9" name="文字版面配置區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27" name="文字版面配置區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30" name="文字版面配置區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31" name="文字版面配置區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/>
              <a:t>MM</a:t>
            </a:r>
            <a:endParaRPr lang="zh-TW" altLang="en-US" noProof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6" name="日期版面配置區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37" name="頁尾版面配置區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38" name="投影片編號版面配置區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7" name="SmartArt 預留位置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SmartArt graphic</a:t>
            </a:r>
            <a:endParaRPr lang="zh-TW" altLang="en-US" noProof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團隊投影片 4 人員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7" name="圖片版面配置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23" name="文字版面配置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7" name="文字版面配置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8" name="圖片版面配置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</a:lstStyle>
          <a:p>
            <a:pPr lvl="1"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24" name="文字版面配置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8" name="文字版面配置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9" name="圖片版面配置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​​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團隊投影片 8 人員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6" name="文字版面配置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7" name="圖片版面配置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23" name="文字版面配置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7" name="文字版面配置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8" name="圖片版面配置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24" name="文字版面配置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8" name="文字版面配置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9" name="圖片版面配置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25" name="文字版面配置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9" name="文字版面配置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55" name="圖片版面配置區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54" name="文字版面配置區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62" name="文字版面配置區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56" name="圖片版面配置區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59" name="文字版面配置區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63" name="文字版面配置區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57" name="圖片版面配置區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60" name="文字版面配置區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64" name="文字版面配置區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58" name="圖片版面配置區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61" name="文字版面配置區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65" name="文字版面配置區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圖形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基金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17" name="文字版面配置區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4" name="內容版面配置區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18" name="文字版面配置區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 noProof="0"/>
              <a:t>Click to edit Master text styles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5" name="內容版面配置區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21" name="文字版面配置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19" name="文字版面配置區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2" name="內容版面配置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26" name="內容版面配置區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zh-TW" altLang="en-US" noProof="0"/>
              <a:t>按一下以新增內容</a:t>
            </a:r>
          </a:p>
        </p:txBody>
      </p:sp>
      <p:sp>
        <p:nvSpPr>
          <p:cNvPr id="14" name="文字版面配置區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#</a:t>
            </a:r>
          </a:p>
        </p:txBody>
      </p:sp>
      <p:sp>
        <p:nvSpPr>
          <p:cNvPr id="23" name="文字版面配置區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15" name="內容版面配置區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altLang="zh-TW" noProof="0"/>
              <a:t>Click to edit Master text styles</a:t>
            </a:r>
          </a:p>
        </p:txBody>
      </p:sp>
      <p:cxnSp>
        <p:nvCxnSpPr>
          <p:cNvPr id="23" name="直線接點​​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​​(S)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日期版面配置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22" name="頁尾版面配置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24" name="投影片編號版面配置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結語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en-US" altLang="zh-TW" noProof="0"/>
              <a:t>Click to edit Master title style</a:t>
            </a:r>
            <a:endParaRPr lang="zh-TW" altLang="en-US" noProof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日期版面配置區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0" name="頁尾版面配置區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11" name="投影片編號版面配置區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79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dIe2CrorMM?si=28isDUc5yMwFrv5n" TargetMode="External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jpeg"/><Relationship Id="rId5" Type="http://schemas.openxmlformats.org/officeDocument/2006/relationships/hyperlink" Target="https://youtu.be/KwtAMGXyTI4?si=wN_Ucxp-av-WBrTl" TargetMode="External"/><Relationship Id="rId4" Type="http://schemas.openxmlformats.org/officeDocument/2006/relationships/hyperlink" Target="https://youtu.be/0sAxyu2jOug?si=9684VpNXi7Z4fcR6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br>
              <a:rPr lang="en-US" altLang="zh-TW" dirty="0"/>
            </a:br>
            <a:r>
              <a:rPr lang="en-US" dirty="0" err="1">
                <a:latin typeface="Berlin Sans FB"/>
                <a:ea typeface="Microsoft JhengHei UI"/>
              </a:rPr>
              <a:t>Autohausen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>
                <a:latin typeface="Microsoft JhengHei UI"/>
                <a:ea typeface="Microsoft JhengHei UI"/>
              </a:rPr>
              <a:t>By </a:t>
            </a:r>
            <a:r>
              <a:rPr lang="en-US" dirty="0">
                <a:latin typeface="Microsoft JhengHei UI"/>
                <a:ea typeface="Microsoft JhengHei UI"/>
              </a:rPr>
              <a:t>Nick Collins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167" y="512277"/>
            <a:ext cx="4036536" cy="1204912"/>
          </a:xfrm>
        </p:spPr>
        <p:txBody>
          <a:bodyPr rtlCol="0" anchor="b">
            <a:normAutofit/>
          </a:bodyPr>
          <a:lstStyle/>
          <a:p>
            <a:r>
              <a:rPr lang="zh-TW" altLang="en-US">
                <a:latin typeface="Sabon Next LT"/>
                <a:cs typeface="Sabon Next LT"/>
              </a:rPr>
              <a:t>How it works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9965" y="2019901"/>
            <a:ext cx="5593258" cy="48400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" altLang="zh-TW" cap="all" spc="150" dirty="0">
                <a:latin typeface="Berlin Sans FB"/>
                <a:ea typeface="Microsoft JhengHei UI"/>
              </a:rPr>
              <a:t>This code uses three </a:t>
            </a:r>
            <a:r>
              <a:rPr lang="en" altLang="zh-TW" cap="all" spc="150" err="1">
                <a:latin typeface="Berlin Sans FB"/>
                <a:ea typeface="Microsoft JhengHei UI"/>
              </a:rPr>
              <a:t>SynthDefs</a:t>
            </a:r>
            <a:r>
              <a:rPr lang="en" altLang="zh-TW" cap="all" spc="150" dirty="0">
                <a:latin typeface="Berlin Sans FB"/>
                <a:ea typeface="Microsoft JhengHei UI"/>
              </a:rPr>
              <a:t> or instruments to define its sound and makes the code works on when the sound is triggered and how to be triggered. In this format, it </a:t>
            </a:r>
            <a:r>
              <a:rPr lang="en" cap="all" spc="150" dirty="0">
                <a:latin typeface="Berlin Sans FB"/>
                <a:ea typeface="Microsoft JhengHei UI"/>
              </a:rPr>
              <a:t>creates algorithmic composition or generative music like the creative process of </a:t>
            </a:r>
            <a:r>
              <a:rPr lang="en" cap="all" spc="150" err="1">
                <a:latin typeface="Berlin Sans FB"/>
                <a:ea typeface="Microsoft JhengHei UI"/>
              </a:rPr>
              <a:t>stockhausen's</a:t>
            </a:r>
            <a:r>
              <a:rPr lang="en" cap="all" spc="150" dirty="0">
                <a:latin typeface="Berlin Sans FB"/>
                <a:ea typeface="Microsoft JhengHei UI"/>
              </a:rPr>
              <a:t> music. </a:t>
            </a:r>
            <a:endParaRPr lang="en" altLang="zh-TW" cap="all" spc="150" dirty="0">
              <a:latin typeface="Berlin Sans FB"/>
              <a:ea typeface="Microsoft JhengHei UI"/>
            </a:endParaRPr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altLang="zh-TW"/>
              <a:t>20XX </a:t>
            </a:r>
            <a:r>
              <a:rPr lang="zh-TW" altLang="en-US"/>
              <a:t>年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DEAEBC2-D9EB-AA2C-1B76-2ACB57AE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altLang="zh-TW" noProof="0" smtClean="0"/>
              <a:pPr>
                <a:spcAft>
                  <a:spcPts val="600"/>
                </a:spcAft>
              </a:pPr>
              <a:t>2</a:t>
            </a:fld>
            <a:endParaRPr lang="zh-TW" altLang="en-US" noProof="0"/>
          </a:p>
        </p:txBody>
      </p:sp>
      <p:pic>
        <p:nvPicPr>
          <p:cNvPr id="10" name="圖片 9" descr="一張含有 文字, 圖表, 方案, 工程製圖 的圖片&#10;&#10;AI 產生的內容可能不正確。">
            <a:extLst>
              <a:ext uri="{FF2B5EF4-FFF2-40B4-BE49-F238E27FC236}">
                <a16:creationId xmlns:a16="http://schemas.microsoft.com/office/drawing/2014/main" id="{FAECCE9E-A575-ED45-3AF0-7B63CADED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27" y="172968"/>
            <a:ext cx="4571400" cy="645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1">
            <a:extLst>
              <a:ext uri="{FF2B5EF4-FFF2-40B4-BE49-F238E27FC236}">
                <a16:creationId xmlns:a16="http://schemas.microsoft.com/office/drawing/2014/main" id="{04AC9147-A40F-8542-1CA2-FE8A04C10BCB}"/>
              </a:ext>
            </a:extLst>
          </p:cNvPr>
          <p:cNvSpPr txBox="1">
            <a:spLocks/>
          </p:cNvSpPr>
          <p:nvPr/>
        </p:nvSpPr>
        <p:spPr>
          <a:xfrm>
            <a:off x="5880658" y="593971"/>
            <a:ext cx="5431971" cy="84630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>
                <a:latin typeface="Sabon Next LT"/>
                <a:ea typeface="Microsoft JhengHei UI"/>
                <a:cs typeface="Sabon Next LT"/>
              </a:rPr>
              <a:t>Sounds/synthdefs</a:t>
            </a:r>
            <a:endParaRPr lang="zh-TW" altLang="en-US">
              <a:latin typeface="Sabon Next LT"/>
              <a:cs typeface="Sabon Next LT"/>
            </a:endParaRPr>
          </a:p>
          <a:p>
            <a:r>
              <a:rPr lang="zh-TW" altLang="en-US">
                <a:latin typeface="Sabon Next LT"/>
                <a:ea typeface="Microsoft JhengHei UI"/>
                <a:cs typeface="Sabon Next LT"/>
              </a:rPr>
              <a:t>/instruments</a:t>
            </a:r>
            <a:endParaRPr lang="zh-TW" altLang="en-US">
              <a:latin typeface="Sabon Next LT"/>
              <a:cs typeface="Sabon Next LT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13F52A9D-191C-F379-B9BA-B6E61CD7A761}"/>
              </a:ext>
            </a:extLst>
          </p:cNvPr>
          <p:cNvSpPr txBox="1">
            <a:spLocks/>
          </p:cNvSpPr>
          <p:nvPr/>
        </p:nvSpPr>
        <p:spPr>
          <a:xfrm>
            <a:off x="5881773" y="1441118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sz="1900"/>
              <a:t>\impulsetrain1</a:t>
            </a:r>
          </a:p>
        </p:txBody>
      </p:sp>
      <p:sp>
        <p:nvSpPr>
          <p:cNvPr id="15" name="文字版面配置區 3">
            <a:extLst>
              <a:ext uri="{FF2B5EF4-FFF2-40B4-BE49-F238E27FC236}">
                <a16:creationId xmlns:a16="http://schemas.microsoft.com/office/drawing/2014/main" id="{153BD4D1-58DD-6DEB-1CF3-4E11485D1C02}"/>
              </a:ext>
            </a:extLst>
          </p:cNvPr>
          <p:cNvSpPr txBox="1">
            <a:spLocks/>
          </p:cNvSpPr>
          <p:nvPr/>
        </p:nvSpPr>
        <p:spPr>
          <a:xfrm>
            <a:off x="5881347" y="1807942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zh-TW" altLang="en-US" sz="1200">
                <a:latin typeface="Microsoft JhengHei UI"/>
                <a:ea typeface="Microsoft JhengHei UI"/>
              </a:rPr>
              <a:t>Creates low and high </a:t>
            </a:r>
            <a:r>
              <a:rPr lang="zh-TW" sz="1200">
                <a:latin typeface="Microsoft JhengHei UI"/>
                <a:ea typeface="Microsoft JhengHei UI"/>
              </a:rPr>
              <a:t>frequency</a:t>
            </a:r>
            <a:r>
              <a:rPr lang="zh-TW" altLang="en-US" sz="1200">
                <a:latin typeface="Microsoft JhengHei UI"/>
                <a:ea typeface="Microsoft JhengHei UI"/>
              </a:rPr>
              <a:t>pulse by using BPF (band pass filter) to make its timber chained with its own frequency. This makes a metalic pulse sound. </a:t>
            </a:r>
            <a:endParaRPr lang="zh-TW" sz="1200">
              <a:latin typeface="Microsoft JhengHei UI"/>
              <a:ea typeface="Microsoft JhengHei UI"/>
            </a:endParaRPr>
          </a:p>
          <a:p>
            <a:pPr>
              <a:lnSpc>
                <a:spcPct val="90000"/>
              </a:lnSpc>
            </a:pPr>
            <a:endParaRPr lang="zh-TW" altLang="en-US" sz="1100"/>
          </a:p>
        </p:txBody>
      </p:sp>
      <p:sp>
        <p:nvSpPr>
          <p:cNvPr id="18" name="文字版面配置區 4">
            <a:extLst>
              <a:ext uri="{FF2B5EF4-FFF2-40B4-BE49-F238E27FC236}">
                <a16:creationId xmlns:a16="http://schemas.microsoft.com/office/drawing/2014/main" id="{71A530A3-0A0B-7434-AD76-B616988FE0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87244" y="2846510"/>
            <a:ext cx="5433204" cy="3651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TW" sz="1900"/>
              <a:t>\sinarpegg1</a:t>
            </a:r>
          </a:p>
        </p:txBody>
      </p:sp>
      <p:sp>
        <p:nvSpPr>
          <p:cNvPr id="20" name="文字版面配置區 5">
            <a:extLst>
              <a:ext uri="{FF2B5EF4-FFF2-40B4-BE49-F238E27FC236}">
                <a16:creationId xmlns:a16="http://schemas.microsoft.com/office/drawing/2014/main" id="{AE3A1407-8608-2B4D-E732-D2252D1916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84081" y="3211567"/>
            <a:ext cx="5781927" cy="10546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TW" altLang="en-US" sz="1200" dirty="0">
                <a:latin typeface="Microsoft JhengHei UI"/>
                <a:ea typeface="Microsoft JhengHei UI"/>
              </a:rPr>
              <a:t>It's a </a:t>
            </a:r>
            <a:r>
              <a:rPr lang="zh-TW" sz="1200" dirty="0">
                <a:latin typeface="Microsoft JhengHei UI"/>
                <a:ea typeface="Microsoft JhengHei UI"/>
              </a:rPr>
              <a:t>SinOsc </a:t>
            </a:r>
            <a:r>
              <a:rPr lang="zh-TW" altLang="en-US" sz="1200" dirty="0">
                <a:latin typeface="Microsoft JhengHei UI"/>
                <a:ea typeface="Microsoft JhengHei UI"/>
              </a:rPr>
              <a:t>using a </a:t>
            </a:r>
            <a:r>
              <a:rPr lang="zh-TW" sz="1200" dirty="0">
                <a:latin typeface="Microsoft JhengHei UI"/>
                <a:ea typeface="Microsoft JhengHei UI"/>
              </a:rPr>
              <a:t>envelope</a:t>
            </a:r>
            <a:r>
              <a:rPr lang="zh-TW" altLang="en-US" sz="1200" dirty="0">
                <a:latin typeface="Microsoft JhengHei UI"/>
                <a:ea typeface="Microsoft JhengHei UI"/>
              </a:rPr>
              <a:t> </a:t>
            </a:r>
            <a:r>
              <a:rPr lang="en-US" altLang="zh-TW" sz="1200" dirty="0">
                <a:latin typeface="Microsoft JhengHei UI"/>
                <a:ea typeface="Microsoft JhengHei UI"/>
              </a:rPr>
              <a:t>as</a:t>
            </a:r>
            <a:r>
              <a:rPr lang="zh-TW" altLang="en-US" sz="1200" dirty="0">
                <a:latin typeface="Microsoft JhengHei UI"/>
                <a:ea typeface="Microsoft JhengHei UI"/>
              </a:rPr>
              <a:t> a </a:t>
            </a:r>
            <a:r>
              <a:rPr lang="zh-TW" sz="1200">
                <a:latin typeface="Microsoft JhengHei UI"/>
                <a:ea typeface="Microsoft JhengHei UI"/>
              </a:rPr>
              <a:t>frequency input</a:t>
            </a:r>
            <a:r>
              <a:rPr lang="en-US" altLang="zh-TW" sz="1200" dirty="0">
                <a:latin typeface="Microsoft JhengHei UI"/>
                <a:ea typeface="Microsoft JhengHei UI"/>
              </a:rPr>
              <a:t>, and  " </a:t>
            </a:r>
            <a:r>
              <a:rPr lang="en-US" sz="1200" dirty="0">
                <a:latin typeface="Microsoft JhengHei UI"/>
                <a:ea typeface="Microsoft JhengHei UI"/>
              </a:rPr>
              <a:t>[1,2,3,4,5,6] * </a:t>
            </a:r>
            <a:r>
              <a:rPr lang="en-US" sz="1200" dirty="0" err="1">
                <a:latin typeface="Microsoft JhengHei UI"/>
                <a:ea typeface="Microsoft JhengHei UI"/>
              </a:rPr>
              <a:t>freq</a:t>
            </a:r>
            <a:r>
              <a:rPr lang="en-US" altLang="zh-TW" sz="1200" dirty="0">
                <a:latin typeface="Microsoft JhengHei UI"/>
                <a:ea typeface="Microsoft JhengHei UI"/>
              </a:rPr>
              <a:t>" makes a </a:t>
            </a:r>
            <a:r>
              <a:rPr lang="en-US" sz="1200" dirty="0">
                <a:latin typeface="Microsoft JhengHei UI"/>
                <a:ea typeface="Microsoft JhengHei UI"/>
              </a:rPr>
              <a:t>arpeggio or glissando effects, and with CombN (Comb Filter) to add a slight delay or special reverb sound.</a:t>
            </a:r>
            <a:endParaRPr lang="en-US" sz="1200" dirty="0"/>
          </a:p>
          <a:p>
            <a:pPr rtl="0"/>
            <a:endParaRPr lang="zh-TW" altLang="en-US"/>
          </a:p>
        </p:txBody>
      </p:sp>
      <p:sp>
        <p:nvSpPr>
          <p:cNvPr id="22" name="文字版面配置區 6">
            <a:extLst>
              <a:ext uri="{FF2B5EF4-FFF2-40B4-BE49-F238E27FC236}">
                <a16:creationId xmlns:a16="http://schemas.microsoft.com/office/drawing/2014/main" id="{995A1D6E-4EB8-2E29-1D41-64688499D0A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80006" y="4268351"/>
            <a:ext cx="5433204" cy="3651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TW" sz="1900"/>
              <a:t>\pitchednoise</a:t>
            </a:r>
          </a:p>
        </p:txBody>
      </p:sp>
      <p:sp>
        <p:nvSpPr>
          <p:cNvPr id="24" name="文字版面配置區 7">
            <a:extLst>
              <a:ext uri="{FF2B5EF4-FFF2-40B4-BE49-F238E27FC236}">
                <a16:creationId xmlns:a16="http://schemas.microsoft.com/office/drawing/2014/main" id="{F65B680C-CB09-2298-B575-C0A585B9C60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9580" y="4635174"/>
            <a:ext cx="5431971" cy="55795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zh-TW" altLang="en-US" sz="1200"/>
              <a:t>This one also uses BPF but it's more about making white noise sound into wind sound, adding a airy texture with pitch to this music.</a:t>
            </a:r>
          </a:p>
          <a:p>
            <a:pPr rtl="0">
              <a:lnSpc>
                <a:spcPct val="90000"/>
              </a:lnSpc>
            </a:pPr>
            <a:endParaRPr lang="zh-TW" altLang="en-US" sz="1200"/>
          </a:p>
        </p:txBody>
      </p:sp>
      <p:pic>
        <p:nvPicPr>
          <p:cNvPr id="27" name="圖片 26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E24F44D0-E1C8-D1E3-BEF2-D3BBAD2CD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88" y="934969"/>
            <a:ext cx="5568100" cy="425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 anchor="ctr">
            <a:normAutofit/>
          </a:bodyPr>
          <a:lstStyle/>
          <a:p>
            <a:pPr algn="l"/>
            <a:r>
              <a:rPr lang="zh-TW" altLang="en-US" dirty="0">
                <a:latin typeface="Sabon Next LT"/>
                <a:cs typeface="Sabon Next LT"/>
              </a:rPr>
              <a:t>Important techniques</a:t>
            </a:r>
            <a:endParaRPr lang="zh-TW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2404" y="2603967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Handmade Reverb/Space 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6704" y="3834606"/>
            <a:ext cx="3435630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b="1" dirty="0">
                <a:latin typeface="Microsoft JhengHei UI"/>
                <a:ea typeface="Microsoft JhengHei UI"/>
              </a:rPr>
              <a:t>"</a:t>
            </a:r>
            <a:r>
              <a:rPr lang="zh-TW" altLang="en-US" b="1">
                <a:latin typeface="Microsoft JhengHei UI"/>
                <a:ea typeface="Microsoft JhengHei UI"/>
              </a:rPr>
              <a:t> </a:t>
            </a:r>
            <a:r>
              <a:rPr lang="zh-TW" b="1">
                <a:latin typeface="Microsoft JhengHei UI"/>
                <a:ea typeface="Microsoft JhengHei UI"/>
              </a:rPr>
              <a:t>shifted= PitchShift.ar(input, 0.01,rate);</a:t>
            </a:r>
            <a:r>
              <a:rPr lang="zh-TW" altLang="en-US" b="1">
                <a:latin typeface="Microsoft JhengHei UI"/>
                <a:ea typeface="Microsoft JhengHei UI"/>
              </a:rPr>
              <a:t> </a:t>
            </a:r>
            <a:r>
              <a:rPr lang="en-US" altLang="zh-TW" b="1" dirty="0">
                <a:latin typeface="Microsoft JhengHei UI"/>
                <a:ea typeface="Microsoft JhengHei UI"/>
              </a:rPr>
              <a:t>" </a:t>
            </a:r>
            <a:endParaRPr lang="zh-TW" altLang="en-US" b="1">
              <a:latin typeface="Microsoft JhengHei UI"/>
              <a:ea typeface="Microsoft JhengHei UI"/>
            </a:endParaRPr>
          </a:p>
          <a:p>
            <a:r>
              <a:rPr lang="en-US" altLang="zh-TW" dirty="0">
                <a:latin typeface="Microsoft JhengHei UI"/>
                <a:ea typeface="Microsoft JhengHei UI"/>
              </a:rPr>
              <a:t>is to </a:t>
            </a:r>
            <a:r>
              <a:rPr lang="en-US" dirty="0">
                <a:latin typeface="Microsoft JhengHei UI"/>
                <a:ea typeface="Microsoft JhengHei UI"/>
              </a:rPr>
              <a:t>simulate slow down, like in Tape music or music concrete, </a:t>
            </a:r>
            <a:endParaRPr lang="zh-TW" altLang="en-US">
              <a:latin typeface="Microsoft JhengHei UI"/>
              <a:ea typeface="Microsoft JhengHei UI"/>
            </a:endParaRPr>
          </a:p>
          <a:p>
            <a:r>
              <a:rPr lang="en-US" dirty="0">
                <a:latin typeface="Microsoft JhengHei UI"/>
                <a:ea typeface="Microsoft JhengHei UI"/>
              </a:rPr>
              <a:t>and </a:t>
            </a:r>
            <a:r>
              <a:rPr lang="en-US" b="1" dirty="0">
                <a:latin typeface="Microsoft JhengHei UI"/>
                <a:ea typeface="Microsoft JhengHei UI"/>
              </a:rPr>
              <a:t>"[1,0.5,0.25,0.125,4].choose"</a:t>
            </a:r>
            <a:r>
              <a:rPr lang="en-US" dirty="0">
                <a:latin typeface="Microsoft JhengHei UI"/>
                <a:ea typeface="Microsoft JhengHei UI"/>
              </a:rPr>
              <a:t> allows to choose different slow rate.</a:t>
            </a:r>
            <a:endParaRPr lang="zh-TW">
              <a:latin typeface="Microsoft JhengHei UI"/>
              <a:ea typeface="Microsoft JhengHei UI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603967"/>
            <a:ext cx="2896671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/>
              <a:t>PitchShift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83365" y="3834606"/>
            <a:ext cx="2896671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altLang="zh-TW" dirty="0">
                <a:latin typeface="Microsoft JhengHei UI"/>
                <a:ea typeface="Microsoft JhengHei UI"/>
              </a:rPr>
              <a:t>"</a:t>
            </a:r>
            <a:r>
              <a:rPr lang="zh-TW">
                <a:latin typeface="Microsoft JhengHei UI"/>
                <a:ea typeface="Microsoft JhengHei UI"/>
              </a:rPr>
              <a:t>DelayN</a:t>
            </a:r>
            <a:r>
              <a:rPr lang="en-US" altLang="zh-TW" dirty="0">
                <a:latin typeface="Microsoft JhengHei UI"/>
                <a:ea typeface="Microsoft JhengHei UI"/>
              </a:rPr>
              <a:t>"</a:t>
            </a:r>
            <a:r>
              <a:rPr lang="zh-TW" dirty="0">
                <a:latin typeface="Microsoft JhengHei UI"/>
                <a:ea typeface="Microsoft JhengHei UI"/>
              </a:rPr>
              <a:t> </a:t>
            </a:r>
            <a:r>
              <a:rPr lang="en-US" altLang="zh-TW" dirty="0">
                <a:latin typeface="Microsoft JhengHei UI"/>
                <a:ea typeface="Microsoft JhengHei UI"/>
              </a:rPr>
              <a:t>as</a:t>
            </a:r>
            <a:r>
              <a:rPr lang="zh-TW">
                <a:latin typeface="Microsoft JhengHei UI"/>
                <a:ea typeface="Microsoft JhengHei UI"/>
              </a:rPr>
              <a:t> pre-delay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altLang="zh-TW" dirty="0">
                <a:latin typeface="Microsoft JhengHei UI"/>
                <a:ea typeface="Microsoft JhengHei UI"/>
              </a:rPr>
              <a:t>"</a:t>
            </a:r>
            <a:r>
              <a:rPr lang="en-US" altLang="zh-TW" dirty="0" err="1">
                <a:latin typeface="Microsoft JhengHei UI"/>
                <a:ea typeface="Microsoft JhengHei UI"/>
              </a:rPr>
              <a:t>CombL</a:t>
            </a:r>
            <a:r>
              <a:rPr lang="en-US" altLang="zh-TW" dirty="0">
                <a:latin typeface="Microsoft JhengHei UI"/>
                <a:ea typeface="Microsoft JhengHei UI"/>
              </a:rPr>
              <a:t>"</a:t>
            </a:r>
            <a:r>
              <a:rPr lang="zh-TW" altLang="en-US">
                <a:latin typeface="Microsoft JhengHei UI"/>
                <a:ea typeface="Microsoft JhengHei UI"/>
              </a:rPr>
              <a:t> as </a:t>
            </a:r>
            <a:r>
              <a:rPr lang="en-US" altLang="zh-TW" dirty="0">
                <a:latin typeface="Microsoft JhengHei UI"/>
                <a:ea typeface="Microsoft JhengHei UI"/>
              </a:rPr>
              <a:t>comb</a:t>
            </a:r>
            <a:r>
              <a:rPr lang="zh-TW" altLang="en-US" dirty="0">
                <a:latin typeface="Microsoft JhengHei UI"/>
                <a:ea typeface="Microsoft JhengHei UI"/>
              </a:rPr>
              <a:t> </a:t>
            </a:r>
            <a:r>
              <a:rPr lang="en-US" altLang="zh-TW" dirty="0">
                <a:latin typeface="Microsoft JhengHei UI"/>
                <a:ea typeface="Microsoft JhengHei UI"/>
              </a:rPr>
              <a:t>reverberators</a:t>
            </a:r>
            <a:endParaRPr lang="zh-TW" dirty="0">
              <a:latin typeface="Microsoft JhengHei UI"/>
              <a:ea typeface="Microsoft JhengHei UI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latin typeface="Microsoft JhengHei UI"/>
                <a:ea typeface="Microsoft JhengHei UI"/>
              </a:rPr>
              <a:t>"</a:t>
            </a:r>
            <a:r>
              <a:rPr lang="en-US" dirty="0" err="1">
                <a:latin typeface="Microsoft JhengHei UI"/>
                <a:ea typeface="Microsoft JhengHei UI"/>
              </a:rPr>
              <a:t>AllpassN</a:t>
            </a:r>
            <a:r>
              <a:rPr lang="en-US" dirty="0">
                <a:latin typeface="Microsoft JhengHei UI"/>
                <a:ea typeface="Microsoft JhengHei UI"/>
              </a:rPr>
              <a:t>" as diffuse network (Schroeder </a:t>
            </a:r>
            <a:r>
              <a:rPr lang="en-US" dirty="0" err="1">
                <a:latin typeface="Microsoft JhengHei UI"/>
                <a:ea typeface="Microsoft JhengHei UI"/>
              </a:rPr>
              <a:t>allpass</a:t>
            </a:r>
            <a:r>
              <a:rPr lang="en-US" dirty="0">
                <a:latin typeface="Microsoft JhengHei UI"/>
                <a:ea typeface="Microsoft JhengHei UI"/>
              </a:rPr>
              <a:t> delay line with no interpolation.</a:t>
            </a:r>
            <a:r>
              <a:rPr lang="en-US" sz="1100" i="1" dirty="0">
                <a:solidFill>
                  <a:srgbClr val="555555"/>
                </a:solidFill>
                <a:highlight>
                  <a:srgbClr val="FFFFFF"/>
                </a:highlight>
                <a:latin typeface="Arial"/>
                <a:ea typeface="Microsoft JhengHei UI"/>
                <a:cs typeface="Arial"/>
              </a:rPr>
              <a:t>)</a:t>
            </a:r>
            <a:endParaRPr lang="en-US" altLang="zh-TW" dirty="0">
              <a:latin typeface="Microsoft JhengHei UI"/>
              <a:ea typeface="Microsoft JhengHei UI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05783" y="2603967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/>
              <a:t>PanAz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605783" y="3834606"/>
            <a:ext cx="2882475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b="1">
                <a:latin typeface="Microsoft JhengHei UI"/>
                <a:ea typeface="Microsoft JhengHei UI"/>
              </a:rPr>
              <a:t>"</a:t>
            </a:r>
            <a:r>
              <a:rPr lang="zh-TW" b="1">
                <a:latin typeface="Microsoft JhengHei UI"/>
                <a:ea typeface="Microsoft JhengHei UI"/>
              </a:rPr>
              <a:t>Out.ar(0,PanAz.ar(numChannels,filter,pan))</a:t>
            </a:r>
            <a:r>
              <a:rPr lang="zh-TW" altLang="en-US" b="1">
                <a:latin typeface="Microsoft JhengHei UI"/>
                <a:ea typeface="Microsoft JhengHei UI"/>
              </a:rPr>
              <a:t> </a:t>
            </a:r>
            <a:r>
              <a:rPr lang="en-US" altLang="zh-TW" b="1" dirty="0">
                <a:latin typeface="Microsoft JhengHei UI"/>
                <a:ea typeface="Microsoft JhengHei UI"/>
              </a:rPr>
              <a:t>" </a:t>
            </a:r>
            <a:endParaRPr lang="zh-TW" altLang="en-US" b="1"/>
          </a:p>
          <a:p>
            <a:r>
              <a:rPr lang="en-US" altLang="zh-TW" dirty="0">
                <a:latin typeface="Microsoft JhengHei UI"/>
                <a:ea typeface="Microsoft JhengHei UI"/>
              </a:rPr>
              <a:t>It allow this piece to have 4 audio channels instead of a stereo output to make it sound more like </a:t>
            </a:r>
            <a:r>
              <a:rPr lang="en-US" dirty="0" err="1">
                <a:latin typeface="Microsoft JhengHei UI"/>
                <a:ea typeface="Microsoft JhengHei UI"/>
              </a:rPr>
              <a:t>stockhausen's</a:t>
            </a:r>
            <a:r>
              <a:rPr lang="en-US" dirty="0">
                <a:latin typeface="Microsoft JhengHei UI"/>
                <a:ea typeface="Microsoft JhengHei UI"/>
              </a:rPr>
              <a:t> </a:t>
            </a:r>
            <a:r>
              <a:rPr lang="en-US" altLang="zh-TW" dirty="0">
                <a:latin typeface="Microsoft JhengHei UI"/>
                <a:ea typeface="Microsoft JhengHei UI"/>
              </a:rPr>
              <a:t>style.</a:t>
            </a:r>
            <a:endParaRPr lang="en-US"/>
          </a:p>
        </p:txBody>
      </p:sp>
      <p:sp>
        <p:nvSpPr>
          <p:cNvPr id="20" name="日期版面配置區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altLang="zh-TW"/>
              <a:t>20XX</a:t>
            </a:r>
          </a:p>
        </p:txBody>
      </p:sp>
      <p:pic>
        <p:nvPicPr>
          <p:cNvPr id="16" name="圖片 15" descr="一張含有 鮮豔, 行 的圖片&#10;&#10;AI 產生的內容可能不正確。">
            <a:extLst>
              <a:ext uri="{FF2B5EF4-FFF2-40B4-BE49-F238E27FC236}">
                <a16:creationId xmlns:a16="http://schemas.microsoft.com/office/drawing/2014/main" id="{640DE74C-4E27-B2A2-8033-6398F73B7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688" y="552941"/>
            <a:ext cx="4567326" cy="200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7D20-FA2E-0B05-2C8E-E38716C38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">
            <a:extLst>
              <a:ext uri="{FF2B5EF4-FFF2-40B4-BE49-F238E27FC236}">
                <a16:creationId xmlns:a16="http://schemas.microsoft.com/office/drawing/2014/main" id="{92681F49-E25B-080D-8EE4-85F61086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658" y="593971"/>
            <a:ext cx="5431971" cy="846301"/>
          </a:xfrm>
        </p:spPr>
        <p:txBody>
          <a:bodyPr rtlCol="0" anchor="t">
            <a:normAutofit/>
          </a:bodyPr>
          <a:lstStyle/>
          <a:p>
            <a:r>
              <a:rPr lang="zh-TW" altLang="en-US">
                <a:latin typeface="Sabon Next LT"/>
                <a:cs typeface="Sabon Next LT"/>
              </a:rPr>
              <a:t>Music structure/system</a:t>
            </a: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C905109B-5FA8-311C-5525-5E4E317F00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7098" y="1529940"/>
            <a:ext cx="5433204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1900" err="1">
                <a:latin typeface="Microsoft JhengHei UI"/>
                <a:ea typeface="Microsoft JhengHei UI"/>
              </a:rPr>
              <a:t>Sourceseries</a:t>
            </a:r>
            <a:r>
              <a:rPr lang="en-US" altLang="zh-TW" sz="1900">
                <a:latin typeface="Microsoft JhengHei UI"/>
                <a:ea typeface="Microsoft JhengHei UI"/>
              </a:rPr>
              <a:t> and moments</a:t>
            </a:r>
            <a:endParaRPr lang="zh-TW" altLang="en-US" sz="1900"/>
          </a:p>
        </p:txBody>
      </p:sp>
      <p:sp>
        <p:nvSpPr>
          <p:cNvPr id="19" name="文字版面配置區 3">
            <a:extLst>
              <a:ext uri="{FF2B5EF4-FFF2-40B4-BE49-F238E27FC236}">
                <a16:creationId xmlns:a16="http://schemas.microsoft.com/office/drawing/2014/main" id="{570B009F-BF8E-F271-1B19-AE48ACB766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1347" y="1896763"/>
            <a:ext cx="5431971" cy="55795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1200" dirty="0">
                <a:latin typeface="Microsoft JhengHei UI"/>
                <a:ea typeface="Microsoft JhengHei UI"/>
              </a:rPr>
              <a:t>"</a:t>
            </a:r>
            <a:r>
              <a:rPr lang="zh-TW" sz="1200">
                <a:latin typeface="Microsoft JhengHei UI"/>
                <a:ea typeface="Microsoft JhengHei UI"/>
              </a:rPr>
              <a:t>sou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rc</a:t>
            </a:r>
            <a:r>
              <a:rPr lang="zh-TW" sz="1200">
                <a:latin typeface="Microsoft JhengHei UI"/>
                <a:ea typeface="Microsoft JhengHei UI"/>
              </a:rPr>
              <a:t>eseries= Array.fill(rrand(1,12),{[(0..5).scramble,(0..11).scramble]});</a:t>
            </a:r>
            <a:r>
              <a:rPr lang="zh-TW" altLang="en-US" sz="1200">
                <a:latin typeface="Microsoft JhengHei UI"/>
                <a:ea typeface="Microsoft JhengHei UI"/>
              </a:rPr>
              <a:t> "</a:t>
            </a:r>
            <a:endParaRPr lang="en-US" altLang="zh-TW" sz="1200" dirty="0"/>
          </a:p>
          <a:p>
            <a:pPr>
              <a:lnSpc>
                <a:spcPct val="90000"/>
              </a:lnSpc>
            </a:pPr>
            <a:r>
              <a:rPr lang="zh-TW" altLang="en-US" sz="1200" b="1">
                <a:latin typeface="Microsoft JhengHei UI"/>
                <a:ea typeface="Microsoft JhengHei UI"/>
              </a:rPr>
              <a:t>contain two array of (0...5) and (0...11), and </a:t>
            </a:r>
            <a:endParaRPr lang="zh-TW" altLang="en-US" sz="1200" b="1"/>
          </a:p>
          <a:p>
            <a:pPr>
              <a:lnSpc>
                <a:spcPct val="90000"/>
              </a:lnSpc>
            </a:pPr>
            <a:r>
              <a:rPr lang="zh-TW" sz="1200">
                <a:latin typeface="Microsoft JhengHei UI"/>
                <a:ea typeface="Microsoft JhengHei UI"/>
              </a:rPr>
              <a:t>moments= Array.fill(exprand(13,137).asInteger,{[sourceseries.choose[0], sourceseries.choose[1], exprand(12,143).asInteger]});</a:t>
            </a:r>
            <a:endParaRPr lang="zh-TW" altLang="en-US" sz="1200"/>
          </a:p>
          <a:p>
            <a:pPr>
              <a:lnSpc>
                <a:spcPct val="90000"/>
              </a:lnSpc>
            </a:pPr>
            <a:r>
              <a:rPr lang="en-US" altLang="zh-TW" sz="1200" b="1" dirty="0">
                <a:latin typeface="Microsoft JhengHei UI"/>
                <a:ea typeface="Microsoft JhengHei UI"/>
              </a:rPr>
              <a:t>decide how many times to trigger the array or events.</a:t>
            </a:r>
            <a:endParaRPr lang="zh-TW" sz="1200" b="1"/>
          </a:p>
          <a:p>
            <a:pPr>
              <a:lnSpc>
                <a:spcPct val="90000"/>
              </a:lnSpc>
            </a:pPr>
            <a:endParaRPr lang="zh-TW" altLang="en-US" sz="1200" dirty="0"/>
          </a:p>
          <a:p>
            <a:pPr>
              <a:lnSpc>
                <a:spcPct val="90000"/>
              </a:lnSpc>
            </a:pPr>
            <a:endParaRPr lang="zh-TW" altLang="en-US" sz="1100"/>
          </a:p>
        </p:txBody>
      </p:sp>
      <p:sp>
        <p:nvSpPr>
          <p:cNvPr id="23" name="文字版面配置區 4">
            <a:extLst>
              <a:ext uri="{FF2B5EF4-FFF2-40B4-BE49-F238E27FC236}">
                <a16:creationId xmlns:a16="http://schemas.microsoft.com/office/drawing/2014/main" id="{18CB4043-95BF-C08B-4627-9985F0CF5843}"/>
              </a:ext>
            </a:extLst>
          </p:cNvPr>
          <p:cNvSpPr txBox="1">
            <a:spLocks/>
          </p:cNvSpPr>
          <p:nvPr/>
        </p:nvSpPr>
        <p:spPr>
          <a:xfrm>
            <a:off x="5877895" y="3430865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f-ZA" altLang="zh-TW" sz="1900" err="1">
                <a:latin typeface="Microsoft JhengHei UI"/>
                <a:ea typeface="Microsoft JhengHei UI"/>
              </a:rPr>
              <a:t>i</a:t>
            </a:r>
            <a:r>
              <a:rPr lang="af-ZA" sz="1900" err="1">
                <a:latin typeface="Microsoft JhengHei UI"/>
                <a:ea typeface="Microsoft JhengHei UI"/>
              </a:rPr>
              <a:t>oise</a:t>
            </a:r>
            <a:r>
              <a:rPr lang="af-ZA" altLang="zh-TW" sz="1900" err="1">
                <a:latin typeface="Microsoft JhengHei UI"/>
                <a:ea typeface="Microsoft JhengHei UI"/>
              </a:rPr>
              <a:t>r</a:t>
            </a:r>
            <a:r>
              <a:rPr lang="af-ZA" sz="1900" err="1">
                <a:latin typeface="Microsoft JhengHei UI"/>
                <a:ea typeface="Microsoft JhengHei UI"/>
              </a:rPr>
              <a:t>i</a:t>
            </a:r>
            <a:r>
              <a:rPr lang="af-ZA" altLang="zh-TW" sz="1900" err="1">
                <a:latin typeface="Microsoft JhengHei UI"/>
                <a:ea typeface="Microsoft JhengHei UI"/>
              </a:rPr>
              <a:t>e</a:t>
            </a:r>
            <a:r>
              <a:rPr lang="af-ZA" sz="1900" err="1">
                <a:latin typeface="Microsoft JhengHei UI"/>
                <a:ea typeface="Microsoft JhengHei UI"/>
              </a:rPr>
              <a:t>s</a:t>
            </a:r>
            <a:endParaRPr lang="af-ZA" altLang="zh-TW" err="1"/>
          </a:p>
        </p:txBody>
      </p:sp>
      <p:sp>
        <p:nvSpPr>
          <p:cNvPr id="26" name="文字版面配置區 5">
            <a:extLst>
              <a:ext uri="{FF2B5EF4-FFF2-40B4-BE49-F238E27FC236}">
                <a16:creationId xmlns:a16="http://schemas.microsoft.com/office/drawing/2014/main" id="{96124412-F141-E474-F309-5CD88A350598}"/>
              </a:ext>
            </a:extLst>
          </p:cNvPr>
          <p:cNvSpPr txBox="1">
            <a:spLocks/>
          </p:cNvSpPr>
          <p:nvPr/>
        </p:nvSpPr>
        <p:spPr>
          <a:xfrm>
            <a:off x="5898107" y="3940844"/>
            <a:ext cx="5781927" cy="10546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200" dirty="0" err="1">
                <a:latin typeface="Microsoft JhengHei UI"/>
                <a:ea typeface="Microsoft JhengHei UI"/>
              </a:rPr>
              <a:t>ioiseries</a:t>
            </a:r>
            <a:r>
              <a:rPr lang="en-US" sz="1200" dirty="0">
                <a:latin typeface="Microsoft JhengHei UI"/>
                <a:ea typeface="Microsoft JhengHei UI"/>
              </a:rPr>
              <a:t>= </a:t>
            </a:r>
            <a:r>
              <a:rPr lang="en-US" sz="1200" dirty="0" err="1">
                <a:latin typeface="Microsoft JhengHei UI"/>
                <a:ea typeface="Microsoft JhengHei UI"/>
              </a:rPr>
              <a:t>Pseq</a:t>
            </a:r>
            <a:r>
              <a:rPr lang="en-US" sz="1200" dirty="0">
                <a:latin typeface="Microsoft JhengHei UI"/>
                <a:ea typeface="Microsoft JhengHei UI"/>
              </a:rPr>
              <a:t>(0.025+(6**((seriesseries2.copy.flatten.at((0..143)).rotate(144.rand)+1)/12)-1),inf).</a:t>
            </a:r>
            <a:r>
              <a:rPr lang="en-US" sz="1200" dirty="0" err="1">
                <a:latin typeface="Microsoft JhengHei UI"/>
                <a:ea typeface="Microsoft JhengHei UI"/>
              </a:rPr>
              <a:t>asStream</a:t>
            </a:r>
            <a:r>
              <a:rPr lang="en-US" sz="1200" dirty="0">
                <a:latin typeface="Microsoft JhengHei UI"/>
                <a:ea typeface="Microsoft JhengHei UI"/>
              </a:rPr>
              <a:t>;</a:t>
            </a:r>
            <a:endParaRPr lang="zh-TW" altLang="en-US" dirty="0"/>
          </a:p>
          <a:p>
            <a:r>
              <a:rPr lang="en-US" sz="1200" b="1" dirty="0">
                <a:latin typeface="Microsoft JhengHei UI"/>
                <a:ea typeface="Microsoft JhengHei UI"/>
              </a:rPr>
              <a:t>determine how long between arrays and events.</a:t>
            </a:r>
            <a:endParaRPr lang="en-US" sz="1200" b="1"/>
          </a:p>
          <a:p>
            <a:endParaRPr lang="zh-TW" altLang="en-US"/>
          </a:p>
        </p:txBody>
      </p:sp>
      <p:sp>
        <p:nvSpPr>
          <p:cNvPr id="28" name="文字版面配置區 6">
            <a:extLst>
              <a:ext uri="{FF2B5EF4-FFF2-40B4-BE49-F238E27FC236}">
                <a16:creationId xmlns:a16="http://schemas.microsoft.com/office/drawing/2014/main" id="{EF3E5230-760E-98E1-4ED5-DA106801F3A8}"/>
              </a:ext>
            </a:extLst>
          </p:cNvPr>
          <p:cNvSpPr txBox="1">
            <a:spLocks/>
          </p:cNvSpPr>
          <p:nvPr/>
        </p:nvSpPr>
        <p:spPr>
          <a:xfrm>
            <a:off x="5875332" y="4997627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f-ZA" altLang="zh-TW" sz="1900" dirty="0" err="1">
                <a:latin typeface="Microsoft JhengHei UI"/>
                <a:ea typeface="Microsoft JhengHei UI"/>
              </a:rPr>
              <a:t>instrseries</a:t>
            </a:r>
            <a:endParaRPr lang="af-ZA" altLang="zh-TW" dirty="0" err="1"/>
          </a:p>
        </p:txBody>
      </p:sp>
      <p:sp>
        <p:nvSpPr>
          <p:cNvPr id="30" name="文字版面配置區 7">
            <a:extLst>
              <a:ext uri="{FF2B5EF4-FFF2-40B4-BE49-F238E27FC236}">
                <a16:creationId xmlns:a16="http://schemas.microsoft.com/office/drawing/2014/main" id="{15862213-741A-3F93-F786-23DC175BD7FC}"/>
              </a:ext>
            </a:extLst>
          </p:cNvPr>
          <p:cNvSpPr txBox="1">
            <a:spLocks/>
          </p:cNvSpPr>
          <p:nvPr/>
        </p:nvSpPr>
        <p:spPr>
          <a:xfrm>
            <a:off x="5898280" y="5364450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dirty="0" err="1">
                <a:latin typeface="Microsoft JhengHei UI"/>
                <a:ea typeface="Microsoft JhengHei UI"/>
              </a:rPr>
              <a:t>instrseries</a:t>
            </a:r>
            <a:r>
              <a:rPr lang="en-US" altLang="zh-TW" dirty="0">
                <a:latin typeface="Microsoft JhengHei UI"/>
                <a:ea typeface="Microsoft JhengHei UI"/>
              </a:rPr>
              <a:t>=</a:t>
            </a:r>
            <a:r>
              <a:rPr lang="zh-TW" altLang="en-US" dirty="0">
                <a:latin typeface="Microsoft JhengHei UI"/>
                <a:ea typeface="Microsoft JhengHei UI"/>
              </a:rPr>
              <a:t> </a:t>
            </a:r>
            <a:r>
              <a:rPr lang="en-US" altLang="zh-TW" dirty="0" err="1">
                <a:latin typeface="Microsoft JhengHei UI"/>
                <a:ea typeface="Microsoft JhengHei UI"/>
              </a:rPr>
              <a:t>Pseq</a:t>
            </a:r>
            <a:r>
              <a:rPr lang="en-US" altLang="zh-TW" dirty="0">
                <a:latin typeface="Microsoft JhengHei UI"/>
                <a:ea typeface="Microsoft JhengHei UI"/>
              </a:rPr>
              <a:t>([\</a:t>
            </a:r>
            <a:r>
              <a:rPr lang="en-US" altLang="zh-TW" dirty="0" err="1">
                <a:latin typeface="Microsoft JhengHei UI"/>
                <a:ea typeface="Microsoft JhengHei UI"/>
              </a:rPr>
              <a:t>pitchednoise</a:t>
            </a:r>
            <a:r>
              <a:rPr lang="en-US" altLang="zh-TW" dirty="0">
                <a:latin typeface="Microsoft JhengHei UI"/>
                <a:ea typeface="Microsoft JhengHei UI"/>
              </a:rPr>
              <a:t>,\impulsetrain1,\sinarpegg1].dup(6).</a:t>
            </a:r>
            <a:r>
              <a:rPr lang="en-US" altLang="zh-TW" dirty="0" err="1">
                <a:latin typeface="Microsoft JhengHei UI"/>
                <a:ea typeface="Microsoft JhengHei UI"/>
              </a:rPr>
              <a:t>flatten.scramble,inf</a:t>
            </a:r>
            <a:r>
              <a:rPr lang="en-US" altLang="zh-TW" dirty="0">
                <a:latin typeface="Microsoft JhengHei UI"/>
                <a:ea typeface="Microsoft JhengHei UI"/>
              </a:rPr>
              <a:t>).</a:t>
            </a:r>
            <a:r>
              <a:rPr lang="en-US" altLang="zh-TW" dirty="0" err="1">
                <a:latin typeface="Microsoft JhengHei UI"/>
                <a:ea typeface="Microsoft JhengHei UI"/>
              </a:rPr>
              <a:t>asStream</a:t>
            </a:r>
            <a:r>
              <a:rPr lang="en-US" altLang="zh-TW" dirty="0">
                <a:latin typeface="Microsoft JhengHei UI"/>
                <a:ea typeface="Microsoft JhengHei UI"/>
              </a:rPr>
              <a:t>;</a:t>
            </a:r>
            <a:endParaRPr lang="zh-TW" altLang="en-US" dirty="0">
              <a:latin typeface="Microsoft JhengHei UI"/>
              <a:ea typeface="Microsoft JhengHei UI"/>
            </a:endParaRPr>
          </a:p>
          <a:p>
            <a:pPr>
              <a:lnSpc>
                <a:spcPct val="120000"/>
              </a:lnSpc>
            </a:pPr>
            <a:r>
              <a:rPr lang="en-US" altLang="zh-TW" b="1" dirty="0">
                <a:latin typeface="Microsoft JhengHei UI"/>
                <a:ea typeface="Microsoft JhengHei UI"/>
              </a:rPr>
              <a:t>Decide</a:t>
            </a:r>
            <a:r>
              <a:rPr lang="zh-TW" altLang="en-US" b="1" dirty="0">
                <a:latin typeface="Microsoft JhengHei UI"/>
                <a:ea typeface="Microsoft JhengHei UI"/>
              </a:rPr>
              <a:t> </a:t>
            </a:r>
            <a:r>
              <a:rPr lang="en-US" altLang="zh-TW" b="1" dirty="0">
                <a:latin typeface="Microsoft JhengHei UI"/>
                <a:ea typeface="Microsoft JhengHei UI"/>
              </a:rPr>
              <a:t>which</a:t>
            </a:r>
            <a:r>
              <a:rPr lang="zh-TW" altLang="en-US" b="1">
                <a:latin typeface="Microsoft JhengHei UI"/>
                <a:ea typeface="Microsoft JhengHei UI"/>
              </a:rPr>
              <a:t> SynthDef it's gonna be triggered.</a:t>
            </a:r>
            <a:endParaRPr lang="zh-TW" altLang="en-US" b="1" dirty="0">
              <a:latin typeface="Microsoft JhengHei UI"/>
              <a:ea typeface="Microsoft JhengHei UI"/>
            </a:endParaRPr>
          </a:p>
          <a:p>
            <a:pPr>
              <a:lnSpc>
                <a:spcPct val="90000"/>
              </a:lnSpc>
            </a:pPr>
            <a:endParaRPr lang="zh-TW" altLang="en-US" sz="1200"/>
          </a:p>
        </p:txBody>
      </p:sp>
      <p:pic>
        <p:nvPicPr>
          <p:cNvPr id="31" name="圖片 30" descr="一張含有 文字, 螢幕擷取畫面, 字型, 圖形 的圖片&#10;&#10;AI 產生的內容可能不正確。">
            <a:extLst>
              <a:ext uri="{FF2B5EF4-FFF2-40B4-BE49-F238E27FC236}">
                <a16:creationId xmlns:a16="http://schemas.microsoft.com/office/drawing/2014/main" id="{3F85BC14-3BA0-CC9D-07D7-3B6088F91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30" y="1565489"/>
            <a:ext cx="5438016" cy="655648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D2C69E7B-4088-FC64-12AE-E7980810E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71" y="3533716"/>
            <a:ext cx="5647683" cy="159880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DC5A5221-570C-6C45-04EC-8C5019DC3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61" y="5104114"/>
            <a:ext cx="5634828" cy="16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2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D9916-53DE-F4BA-73D4-266643A0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6FE2CDF3-1545-4C05-6822-12C2E4E4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658" y="593971"/>
            <a:ext cx="5431971" cy="846301"/>
          </a:xfrm>
        </p:spPr>
        <p:txBody>
          <a:bodyPr rtlCol="0" anchor="t">
            <a:normAutofit/>
          </a:bodyPr>
          <a:lstStyle/>
          <a:p>
            <a:r>
              <a:rPr lang="zh-TW" altLang="en-US">
                <a:latin typeface="Sabon Next LT"/>
                <a:cs typeface="Sabon Next LT"/>
              </a:rPr>
              <a:t>Music structure/system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D4673F6D-F27D-5D87-ACE8-B9CB24509D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7098" y="1529940"/>
            <a:ext cx="5433204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latin typeface="Microsoft JhengHei UI"/>
                <a:ea typeface="Microsoft JhengHei UI"/>
              </a:rPr>
              <a:t>panseries</a:t>
            </a:r>
            <a:endParaRPr lang="zh-TW"/>
          </a:p>
        </p:txBody>
      </p:sp>
      <p:sp>
        <p:nvSpPr>
          <p:cNvPr id="14" name="文字版面配置區 3">
            <a:extLst>
              <a:ext uri="{FF2B5EF4-FFF2-40B4-BE49-F238E27FC236}">
                <a16:creationId xmlns:a16="http://schemas.microsoft.com/office/drawing/2014/main" id="{5F60D107-4F28-1878-15DF-ACC567992F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1347" y="1896763"/>
            <a:ext cx="5431971" cy="55795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TW" sz="1200" dirty="0">
                <a:latin typeface="Microsoft JhengHei UI"/>
                <a:ea typeface="Microsoft JhengHei UI"/>
              </a:rPr>
              <a:t>pan</a:t>
            </a:r>
            <a:r>
              <a:rPr lang="zh-TW" sz="1200">
                <a:latin typeface="Microsoft JhengHei UI"/>
                <a:ea typeface="Microsoft JhengHei UI"/>
              </a:rPr>
              <a:t>series=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Pseq</a:t>
            </a:r>
            <a:r>
              <a:rPr lang="en-US" altLang="zh-TW" sz="1200" dirty="0">
                <a:latin typeface="Microsoft JhengHei UI"/>
                <a:ea typeface="Microsoft JhengHei UI"/>
              </a:rPr>
              <a:t>((se</a:t>
            </a:r>
            <a:r>
              <a:rPr lang="zh-TW" sz="1200">
                <a:latin typeface="Microsoft JhengHei UI"/>
                <a:ea typeface="Microsoft JhengHei UI"/>
              </a:rPr>
              <a:t>r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iesse</a:t>
            </a:r>
            <a:r>
              <a:rPr lang="zh-TW" sz="1200">
                <a:latin typeface="Microsoft JhengHei UI"/>
                <a:ea typeface="Microsoft JhengHei UI"/>
              </a:rPr>
              <a:t>r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ies.cop</a:t>
            </a:r>
            <a:r>
              <a:rPr lang="zh-TW" sz="1200">
                <a:latin typeface="Microsoft JhengHei UI"/>
                <a:ea typeface="Microsoft JhengHei UI"/>
              </a:rPr>
              <a:t>y.fla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tte</a:t>
            </a:r>
            <a:r>
              <a:rPr lang="zh-TW" sz="1200">
                <a:latin typeface="Microsoft JhengHei UI"/>
                <a:ea typeface="Microsoft JhengHei UI"/>
              </a:rPr>
              <a:t>n.a</a:t>
            </a:r>
            <a:r>
              <a:rPr lang="en-US" altLang="zh-TW" sz="1200" dirty="0">
                <a:latin typeface="Microsoft JhengHei UI"/>
                <a:ea typeface="Microsoft JhengHei UI"/>
              </a:rPr>
              <a:t>t(</a:t>
            </a:r>
            <a:r>
              <a:rPr lang="zh-TW" sz="1200">
                <a:latin typeface="Microsoft JhengHei UI"/>
                <a:ea typeface="Microsoft JhengHei UI"/>
              </a:rPr>
              <a:t>(0..</a:t>
            </a:r>
            <a:r>
              <a:rPr lang="en-US" altLang="zh-TW" sz="1200" dirty="0">
                <a:latin typeface="Microsoft JhengHei UI"/>
                <a:ea typeface="Microsoft JhengHei UI"/>
              </a:rPr>
              <a:t>23)</a:t>
            </a:r>
            <a:r>
              <a:rPr lang="zh-TW" sz="1200">
                <a:latin typeface="Microsoft JhengHei UI"/>
                <a:ea typeface="Microsoft JhengHei UI"/>
              </a:rPr>
              <a:t>).rotate(36.rand)+1)*(</a:t>
            </a:r>
            <a:r>
              <a:rPr lang="en-US" altLang="zh-TW" sz="1200" dirty="0">
                <a:latin typeface="Microsoft JhengHei UI"/>
                <a:ea typeface="Microsoft JhengHei UI"/>
              </a:rPr>
              <a:t>2/5)-</a:t>
            </a:r>
            <a:r>
              <a:rPr lang="zh-TW" sz="1200">
                <a:latin typeface="Microsoft JhengHei UI"/>
                <a:ea typeface="Microsoft JhengHei UI"/>
              </a:rPr>
              <a:t>1.0,in</a:t>
            </a:r>
            <a:r>
              <a:rPr lang="en-US" altLang="zh-TW" sz="1200" dirty="0">
                <a:latin typeface="Microsoft JhengHei UI"/>
                <a:ea typeface="Microsoft JhengHei UI"/>
              </a:rPr>
              <a:t>f</a:t>
            </a:r>
            <a:r>
              <a:rPr lang="zh-TW" sz="1200">
                <a:latin typeface="Microsoft JhengHei UI"/>
                <a:ea typeface="Microsoft JhengHei UI"/>
              </a:rPr>
              <a:t>).as</a:t>
            </a:r>
            <a:r>
              <a:rPr lang="en-US" altLang="zh-TW" sz="1200" dirty="0">
                <a:latin typeface="Microsoft JhengHei UI"/>
                <a:ea typeface="Microsoft JhengHei UI"/>
              </a:rPr>
              <a:t>S</a:t>
            </a:r>
            <a:r>
              <a:rPr lang="zh-TW" sz="1200">
                <a:latin typeface="Microsoft JhengHei UI"/>
                <a:ea typeface="Microsoft JhengHei UI"/>
              </a:rPr>
              <a:t>tr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eam</a:t>
            </a:r>
            <a:r>
              <a:rPr lang="zh-TW" sz="1200">
                <a:latin typeface="Microsoft JhengHei UI"/>
                <a:ea typeface="Microsoft JhengHei UI"/>
              </a:rPr>
              <a:t>;</a:t>
            </a:r>
            <a:endParaRPr lang="zh-TW"/>
          </a:p>
          <a:p>
            <a:pPr>
              <a:lnSpc>
                <a:spcPct val="90000"/>
              </a:lnSpc>
            </a:pPr>
            <a:r>
              <a:rPr lang="en-US" altLang="zh-TW" dirty="0">
                <a:latin typeface="Microsoft JhengHei UI"/>
                <a:ea typeface="Microsoft JhengHei UI"/>
              </a:rPr>
              <a:t>Control panning with different movement.</a:t>
            </a:r>
            <a:endParaRPr lang="zh-TW" altLang="en-US" dirty="0">
              <a:latin typeface="Microsoft JhengHei UI"/>
              <a:ea typeface="Microsoft JhengHei UI"/>
            </a:endParaRPr>
          </a:p>
          <a:p>
            <a:pPr>
              <a:lnSpc>
                <a:spcPct val="90000"/>
              </a:lnSpc>
            </a:pPr>
            <a:endParaRPr lang="zh-TW" altLang="en-US" sz="1200" dirty="0"/>
          </a:p>
          <a:p>
            <a:pPr>
              <a:lnSpc>
                <a:spcPct val="90000"/>
              </a:lnSpc>
            </a:pPr>
            <a:endParaRPr lang="zh-TW" altLang="en-US" sz="1100"/>
          </a:p>
        </p:txBody>
      </p:sp>
      <p:sp>
        <p:nvSpPr>
          <p:cNvPr id="17" name="文字版面配置區 4">
            <a:extLst>
              <a:ext uri="{FF2B5EF4-FFF2-40B4-BE49-F238E27FC236}">
                <a16:creationId xmlns:a16="http://schemas.microsoft.com/office/drawing/2014/main" id="{D13784AC-0495-4693-66F4-D77E11418A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82570" y="3066227"/>
            <a:ext cx="5433204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latin typeface="Microsoft JhengHei UI"/>
                <a:ea typeface="Microsoft JhengHei UI"/>
              </a:rPr>
              <a:t>numatonce</a:t>
            </a:r>
            <a:endParaRPr lang="zh-TW"/>
          </a:p>
        </p:txBody>
      </p:sp>
      <p:sp>
        <p:nvSpPr>
          <p:cNvPr id="20" name="文字版面配置區 5">
            <a:extLst>
              <a:ext uri="{FF2B5EF4-FFF2-40B4-BE49-F238E27FC236}">
                <a16:creationId xmlns:a16="http://schemas.microsoft.com/office/drawing/2014/main" id="{CD7311C2-9D97-B2AD-21D8-408532CB2E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4733" y="3431286"/>
            <a:ext cx="5781927" cy="10546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 err="1">
                <a:latin typeface="Microsoft JhengHei UI"/>
                <a:ea typeface="Microsoft JhengHei UI"/>
              </a:rPr>
              <a:t>numatonce</a:t>
            </a:r>
            <a:r>
              <a:rPr lang="en-US" sz="1200" dirty="0">
                <a:latin typeface="Microsoft JhengHei UI"/>
                <a:ea typeface="Microsoft JhengHei UI"/>
              </a:rPr>
              <a:t>=</a:t>
            </a:r>
            <a:r>
              <a:rPr lang="en-US" sz="1200" dirty="0" err="1">
                <a:latin typeface="Microsoft JhengHei UI"/>
                <a:ea typeface="Microsoft JhengHei UI"/>
              </a:rPr>
              <a:t>Pseq</a:t>
            </a:r>
            <a:r>
              <a:rPr lang="en-US" sz="1200" dirty="0">
                <a:latin typeface="Microsoft JhengHei UI"/>
                <a:ea typeface="Microsoft JhengHei UI"/>
              </a:rPr>
              <a:t>((seriesseries.copy.flatten.at((0..28)).rotate(36.rand)+1),inf).</a:t>
            </a:r>
            <a:r>
              <a:rPr lang="en-US" sz="1200" dirty="0" err="1">
                <a:latin typeface="Microsoft JhengHei UI"/>
                <a:ea typeface="Microsoft JhengHei UI"/>
              </a:rPr>
              <a:t>asStream</a:t>
            </a:r>
            <a:r>
              <a:rPr lang="en-US" sz="1200" dirty="0">
                <a:latin typeface="Microsoft JhengHei UI"/>
                <a:ea typeface="Microsoft JhengHei UI"/>
              </a:rPr>
              <a:t>;</a:t>
            </a:r>
            <a:endParaRPr lang="zh-TW" altLang="en-US" dirty="0"/>
          </a:p>
          <a:p>
            <a:r>
              <a:rPr lang="zh-TW" altLang="en-US">
                <a:latin typeface="Microsoft JhengHei UI"/>
                <a:ea typeface="Microsoft JhengHei UI"/>
              </a:rPr>
              <a:t>Control numbers of voices that's happeing </a:t>
            </a:r>
            <a:r>
              <a:rPr lang="zh-TW">
                <a:latin typeface="Microsoft JhengHei UI"/>
                <a:ea typeface="Microsoft JhengHei UI"/>
              </a:rPr>
              <a:t>simultaneously or just </a:t>
            </a:r>
            <a:r>
              <a:rPr lang="zh-TW" altLang="en-US">
                <a:latin typeface="Microsoft JhengHei UI"/>
                <a:ea typeface="Microsoft JhengHei UI"/>
              </a:rPr>
              <a:t>in a </a:t>
            </a:r>
            <a:r>
              <a:rPr lang="zh-TW">
                <a:latin typeface="Microsoft JhengHei UI"/>
                <a:ea typeface="Microsoft JhengHei UI"/>
              </a:rPr>
              <a:t>single</a:t>
            </a:r>
            <a:r>
              <a:rPr lang="zh-TW" altLang="en-US">
                <a:latin typeface="Microsoft JhengHei UI"/>
                <a:ea typeface="Microsoft JhengHei UI"/>
              </a:rPr>
              <a:t> time.</a:t>
            </a:r>
            <a:endParaRPr lang="en-US" altLang="zh-TW" sz="1200"/>
          </a:p>
          <a:p>
            <a:endParaRPr lang="zh-TW" altLang="en-US"/>
          </a:p>
        </p:txBody>
      </p:sp>
      <p:sp>
        <p:nvSpPr>
          <p:cNvPr id="22" name="文字版面配置區 6">
            <a:extLst>
              <a:ext uri="{FF2B5EF4-FFF2-40B4-BE49-F238E27FC236}">
                <a16:creationId xmlns:a16="http://schemas.microsoft.com/office/drawing/2014/main" id="{6E296463-FACD-8473-E3EA-B4B2959C46E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84682" y="4880756"/>
            <a:ext cx="5433204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sz="1900">
                <a:latin typeface="Microsoft JhengHei UI"/>
                <a:ea typeface="Microsoft JhengHei UI"/>
              </a:rPr>
              <a:t>t</a:t>
            </a:r>
            <a:r>
              <a:rPr lang="en-US" altLang="zh-TW" sz="1900">
                <a:latin typeface="Microsoft JhengHei UI"/>
                <a:ea typeface="Microsoft JhengHei UI"/>
              </a:rPr>
              <a:t>empos</a:t>
            </a:r>
            <a:r>
              <a:rPr lang="zh-TW" sz="1900">
                <a:latin typeface="Microsoft JhengHei UI"/>
                <a:ea typeface="Microsoft JhengHei UI"/>
              </a:rPr>
              <a:t>e</a:t>
            </a:r>
            <a:r>
              <a:rPr lang="en-US" altLang="zh-TW" sz="1900" dirty="0">
                <a:latin typeface="Microsoft JhengHei UI"/>
                <a:ea typeface="Microsoft JhengHei UI"/>
              </a:rPr>
              <a:t>r</a:t>
            </a:r>
            <a:r>
              <a:rPr lang="zh-TW" sz="1900">
                <a:latin typeface="Microsoft JhengHei UI"/>
                <a:ea typeface="Microsoft JhengHei UI"/>
              </a:rPr>
              <a:t>i</a:t>
            </a:r>
            <a:r>
              <a:rPr lang="en-US" altLang="zh-TW" sz="1900" dirty="0">
                <a:latin typeface="Microsoft JhengHei UI"/>
                <a:ea typeface="Microsoft JhengHei UI"/>
              </a:rPr>
              <a:t>e</a:t>
            </a:r>
            <a:r>
              <a:rPr lang="zh-TW" sz="1900">
                <a:latin typeface="Microsoft JhengHei UI"/>
                <a:ea typeface="Microsoft JhengHei UI"/>
              </a:rPr>
              <a:t>s</a:t>
            </a:r>
            <a:endParaRPr lang="zh-TW"/>
          </a:p>
        </p:txBody>
      </p:sp>
      <p:sp>
        <p:nvSpPr>
          <p:cNvPr id="25" name="文字版面配置區 7">
            <a:extLst>
              <a:ext uri="{FF2B5EF4-FFF2-40B4-BE49-F238E27FC236}">
                <a16:creationId xmlns:a16="http://schemas.microsoft.com/office/drawing/2014/main" id="{D6AFFD8B-638C-E2E5-01ED-5BB5D435F23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4906" y="5247579"/>
            <a:ext cx="5431971" cy="55795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zh-TW" sz="1200">
                <a:latin typeface="Microsoft JhengHei UI"/>
                <a:ea typeface="Microsoft JhengHei UI"/>
              </a:rPr>
              <a:t>t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empo</a:t>
            </a:r>
            <a:r>
              <a:rPr lang="zh-TW" sz="1200">
                <a:latin typeface="Microsoft JhengHei UI"/>
                <a:ea typeface="Microsoft JhengHei UI"/>
              </a:rPr>
              <a:t>series=Pseq(</a:t>
            </a:r>
            <a:r>
              <a:rPr lang="en-US" altLang="zh-TW" sz="1200" dirty="0">
                <a:latin typeface="Microsoft JhengHei UI"/>
                <a:ea typeface="Microsoft JhengHei UI"/>
              </a:rPr>
              <a:t>((30</a:t>
            </a:r>
            <a:r>
              <a:rPr lang="zh-TW" sz="1200" dirty="0">
                <a:latin typeface="Microsoft JhengHei UI"/>
                <a:ea typeface="Microsoft JhengHei UI"/>
              </a:rPr>
              <a:t>,</a:t>
            </a:r>
            <a:r>
              <a:rPr lang="en-US" altLang="zh-TW" sz="1200" dirty="0">
                <a:latin typeface="Microsoft JhengHei UI"/>
                <a:ea typeface="Microsoft JhengHei UI"/>
              </a:rPr>
              <a:t>35.</a:t>
            </a:r>
            <a:r>
              <a:rPr lang="zh-TW" sz="1200" dirty="0">
                <a:latin typeface="Microsoft JhengHei UI"/>
                <a:ea typeface="Microsoft JhengHei UI"/>
              </a:rPr>
              <a:t>.</a:t>
            </a:r>
            <a:r>
              <a:rPr lang="en-US" altLang="zh-TW" sz="1200" dirty="0">
                <a:latin typeface="Microsoft JhengHei UI"/>
                <a:ea typeface="Microsoft JhengHei UI"/>
              </a:rPr>
              <a:t>120)/</a:t>
            </a:r>
            <a:r>
              <a:rPr lang="zh-TW" sz="1200" dirty="0">
                <a:latin typeface="Microsoft JhengHei UI"/>
                <a:ea typeface="Microsoft JhengHei UI"/>
              </a:rPr>
              <a:t>6</a:t>
            </a:r>
            <a:r>
              <a:rPr lang="en-US" altLang="zh-TW" sz="1200" dirty="0">
                <a:latin typeface="Microsoft JhengHei UI"/>
                <a:ea typeface="Microsoft JhengHei UI"/>
              </a:rPr>
              <a:t>0</a:t>
            </a:r>
            <a:r>
              <a:rPr lang="zh-TW" sz="1200">
                <a:latin typeface="Microsoft JhengHei UI"/>
                <a:ea typeface="Microsoft JhengHei UI"/>
              </a:rPr>
              <a:t>).scramble,inf).asStream;</a:t>
            </a:r>
            <a:endParaRPr lang="zh-TW"/>
          </a:p>
          <a:p>
            <a:pPr>
              <a:lnSpc>
                <a:spcPct val="90000"/>
              </a:lnSpc>
            </a:pPr>
            <a:r>
              <a:rPr lang="en-US" altLang="zh-TW" dirty="0">
                <a:latin typeface="Microsoft JhengHei UI"/>
                <a:ea typeface="Microsoft JhengHei UI"/>
              </a:rPr>
              <a:t>We</a:t>
            </a:r>
            <a:r>
              <a:rPr lang="zh-TW" altLang="en-US" dirty="0">
                <a:latin typeface="Microsoft JhengHei UI"/>
                <a:ea typeface="Microsoft JhengHei UI"/>
              </a:rPr>
              <a:t> </a:t>
            </a:r>
            <a:r>
              <a:rPr lang="en-US" altLang="zh-TW" dirty="0">
                <a:latin typeface="Microsoft JhengHei UI"/>
                <a:ea typeface="Microsoft JhengHei UI"/>
              </a:rPr>
              <a:t>can</a:t>
            </a:r>
            <a:r>
              <a:rPr lang="zh-TW" altLang="en-US" dirty="0">
                <a:latin typeface="Microsoft JhengHei UI"/>
                <a:ea typeface="Microsoft JhengHei UI"/>
              </a:rPr>
              <a:t> </a:t>
            </a:r>
            <a:r>
              <a:rPr lang="en-US" altLang="zh-TW" dirty="0">
                <a:latin typeface="Microsoft JhengHei UI"/>
                <a:ea typeface="Microsoft JhengHei UI"/>
              </a:rPr>
              <a:t>choose the range of tempo and the method of </a:t>
            </a:r>
            <a:r>
              <a:rPr lang="en-US" dirty="0">
                <a:latin typeface="Microsoft JhengHei UI"/>
                <a:ea typeface="Microsoft JhengHei UI"/>
              </a:rPr>
              <a:t>choosing.</a:t>
            </a:r>
            <a:endParaRPr lang="zh-TW" dirty="0" err="1">
              <a:latin typeface="Microsoft JhengHei UI"/>
              <a:ea typeface="Microsoft JhengHei UI"/>
            </a:endParaRPr>
          </a:p>
          <a:p>
            <a:pPr>
              <a:lnSpc>
                <a:spcPct val="90000"/>
              </a:lnSpc>
            </a:pPr>
            <a:endParaRPr lang="zh-TW" sz="1200" dirty="0"/>
          </a:p>
          <a:p>
            <a:pPr>
              <a:lnSpc>
                <a:spcPct val="90000"/>
              </a:lnSpc>
            </a:pPr>
            <a:endParaRPr lang="zh-TW" altLang="en-US" sz="1200"/>
          </a:p>
        </p:txBody>
      </p:sp>
      <p:pic>
        <p:nvPicPr>
          <p:cNvPr id="29" name="圖片 28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BCA0CF42-83A1-CA45-45C9-FFA447A4F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9" y="2906318"/>
            <a:ext cx="5787461" cy="104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3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F862-8B28-2D2E-36CA-C652BD646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標題 1">
            <a:extLst>
              <a:ext uri="{FF2B5EF4-FFF2-40B4-BE49-F238E27FC236}">
                <a16:creationId xmlns:a16="http://schemas.microsoft.com/office/drawing/2014/main" id="{364B1B32-874A-AE84-B461-766F11DE4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658" y="593971"/>
            <a:ext cx="5431971" cy="462964"/>
          </a:xfrm>
        </p:spPr>
        <p:txBody>
          <a:bodyPr rtlCol="0" anchor="t">
            <a:noAutofit/>
          </a:bodyPr>
          <a:lstStyle/>
          <a:p>
            <a:r>
              <a:rPr lang="zh-TW" altLang="en-US">
                <a:latin typeface="Sabon Next LT"/>
                <a:cs typeface="Sabon Next LT"/>
              </a:rPr>
              <a:t>Music structure/system</a:t>
            </a:r>
          </a:p>
        </p:txBody>
      </p:sp>
      <p:sp>
        <p:nvSpPr>
          <p:cNvPr id="36" name="內容版面配置區 2">
            <a:extLst>
              <a:ext uri="{FF2B5EF4-FFF2-40B4-BE49-F238E27FC236}">
                <a16:creationId xmlns:a16="http://schemas.microsoft.com/office/drawing/2014/main" id="{B876E289-8A39-30A7-39B8-98F0C87E64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7098" y="1179327"/>
            <a:ext cx="5433204" cy="3651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dirty="0">
                <a:latin typeface="Microsoft JhengHei UI"/>
                <a:ea typeface="Microsoft JhengHei UI"/>
              </a:rPr>
              <a:t>tempo</a:t>
            </a:r>
            <a:r>
              <a:rPr lang="en-US" altLang="zh-TW" sz="1900">
                <a:latin typeface="Microsoft JhengHei UI"/>
                <a:ea typeface="Microsoft JhengHei UI"/>
              </a:rPr>
              <a:t> and</a:t>
            </a:r>
            <a:r>
              <a:rPr lang="zh-TW" altLang="en-US" sz="1900">
                <a:latin typeface="Microsoft JhengHei UI"/>
                <a:ea typeface="Microsoft JhengHei UI"/>
              </a:rPr>
              <a:t> </a:t>
            </a:r>
            <a:r>
              <a:rPr lang="en-US" sz="1900" err="1">
                <a:latin typeface="Microsoft JhengHei UI"/>
                <a:ea typeface="Microsoft JhengHei UI"/>
              </a:rPr>
              <a:t>basefreq</a:t>
            </a:r>
            <a:r>
              <a:rPr lang="en-US" altLang="zh-TW" sz="1900">
                <a:latin typeface="Microsoft JhengHei UI"/>
                <a:ea typeface="Microsoft JhengHei UI"/>
              </a:rPr>
              <a:t> </a:t>
            </a:r>
            <a:endParaRPr lang="zh-TW"/>
          </a:p>
        </p:txBody>
      </p:sp>
      <p:sp>
        <p:nvSpPr>
          <p:cNvPr id="38" name="文字版面配置區 3">
            <a:extLst>
              <a:ext uri="{FF2B5EF4-FFF2-40B4-BE49-F238E27FC236}">
                <a16:creationId xmlns:a16="http://schemas.microsoft.com/office/drawing/2014/main" id="{A3B980DF-BB17-1182-FBE7-23C01D9434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6672" y="1546150"/>
            <a:ext cx="5431971" cy="5579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zh-TW" sz="1200" dirty="0">
                <a:latin typeface="Microsoft JhengHei UI"/>
                <a:ea typeface="Microsoft JhengHei UI"/>
              </a:rPr>
              <a:t>if(0.1.coin,{</a:t>
            </a:r>
            <a:endParaRPr lang="zh-TW" altLang="en-US" dirty="0"/>
          </a:p>
          <a:p>
            <a:r>
              <a:rPr lang="zh-TW" altLang="en-US" sz="1200" dirty="0">
                <a:latin typeface="Microsoft JhengHei UI"/>
                <a:ea typeface="Microsoft JhengHei UI"/>
              </a:rPr>
              <a:t>    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t.tempo</a:t>
            </a:r>
            <a:r>
              <a:rPr lang="en-US" altLang="zh-TW" sz="1200" dirty="0">
                <a:latin typeface="Microsoft JhengHei UI"/>
                <a:ea typeface="Microsoft JhengHei UI"/>
              </a:rPr>
              <a:t>_(tempo</a:t>
            </a:r>
            <a:r>
              <a:rPr lang="zh-TW" sz="1200">
                <a:latin typeface="Microsoft JhengHei UI"/>
                <a:ea typeface="Microsoft JhengHei UI"/>
              </a:rPr>
              <a:t>series.n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ext</a:t>
            </a:r>
            <a:r>
              <a:rPr lang="en-US" altLang="zh-TW" sz="1200" dirty="0">
                <a:latin typeface="Microsoft JhengHei UI"/>
                <a:ea typeface="Microsoft JhengHei UI"/>
              </a:rPr>
              <a:t>)});</a:t>
            </a:r>
            <a:endParaRPr lang="en-US" dirty="0"/>
          </a:p>
          <a:p>
            <a:r>
              <a:rPr lang="en-US" altLang="zh-TW" sz="1200" dirty="0">
                <a:latin typeface="Microsoft JhengHei UI"/>
                <a:ea typeface="Microsoft JhengHei UI"/>
              </a:rPr>
              <a:t>if(</a:t>
            </a:r>
            <a:r>
              <a:rPr lang="zh-TW" sz="1200" dirty="0">
                <a:latin typeface="Microsoft JhengHei UI"/>
                <a:ea typeface="Microsoft JhengHei UI"/>
              </a:rPr>
              <a:t>0.</a:t>
            </a:r>
            <a:r>
              <a:rPr lang="en-US" altLang="zh-TW" sz="1200" dirty="0">
                <a:latin typeface="Microsoft JhengHei UI"/>
                <a:ea typeface="Microsoft JhengHei UI"/>
              </a:rPr>
              <a:t>02</a:t>
            </a:r>
            <a:r>
              <a:rPr lang="zh-TW" sz="1200" dirty="0">
                <a:latin typeface="Microsoft JhengHei UI"/>
                <a:ea typeface="Microsoft JhengHei UI"/>
              </a:rPr>
              <a:t>.</a:t>
            </a:r>
            <a:r>
              <a:rPr lang="en-US" altLang="zh-TW" sz="1200" dirty="0">
                <a:latin typeface="Microsoft JhengHei UI"/>
                <a:ea typeface="Microsoft JhengHei UI"/>
              </a:rPr>
              <a:t>c</a:t>
            </a:r>
            <a:r>
              <a:rPr lang="zh-TW" sz="1200">
                <a:latin typeface="Microsoft JhengHei UI"/>
                <a:ea typeface="Microsoft JhengHei UI"/>
              </a:rPr>
              <a:t>o</a:t>
            </a:r>
            <a:r>
              <a:rPr lang="en-US" altLang="zh-TW" sz="1200" dirty="0">
                <a:latin typeface="Microsoft JhengHei UI"/>
                <a:ea typeface="Microsoft JhengHei UI"/>
              </a:rPr>
              <a:t>in,{</a:t>
            </a:r>
            <a:endParaRPr lang="zh-TW" altLang="en-US" dirty="0"/>
          </a:p>
          <a:p>
            <a:r>
              <a:rPr lang="zh-TW" altLang="en-US" sz="1200" dirty="0">
                <a:latin typeface="Microsoft JhengHei UI"/>
                <a:ea typeface="Microsoft JhengHei UI"/>
              </a:rPr>
              <a:t>    </a:t>
            </a:r>
            <a:r>
              <a:rPr lang="en-US" altLang="zh-TW" sz="1200" dirty="0">
                <a:latin typeface="Microsoft JhengHei UI"/>
                <a:ea typeface="Microsoft JhengHei UI"/>
              </a:rPr>
              <a:t>b</a:t>
            </a:r>
            <a:r>
              <a:rPr lang="zh-TW" sz="1200">
                <a:latin typeface="Microsoft JhengHei UI"/>
                <a:ea typeface="Microsoft JhengHei UI"/>
              </a:rPr>
              <a:t>a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sefr</a:t>
            </a:r>
            <a:r>
              <a:rPr lang="zh-TW" sz="1200">
                <a:latin typeface="Microsoft JhengHei UI"/>
                <a:ea typeface="Microsoft JhengHei UI"/>
              </a:rPr>
              <a:t>e</a:t>
            </a:r>
            <a:r>
              <a:rPr lang="en-US" altLang="zh-TW" sz="1200" dirty="0">
                <a:latin typeface="Microsoft JhengHei UI"/>
                <a:ea typeface="Microsoft JhengHei UI"/>
              </a:rPr>
              <a:t>q=[27</a:t>
            </a:r>
            <a:r>
              <a:rPr lang="zh-TW" sz="1200" dirty="0">
                <a:latin typeface="Microsoft JhengHei UI"/>
                <a:ea typeface="Microsoft JhengHei UI"/>
              </a:rPr>
              <a:t>.</a:t>
            </a:r>
            <a:r>
              <a:rPr lang="en-US" altLang="zh-TW" sz="1200" dirty="0">
                <a:latin typeface="Microsoft JhengHei UI"/>
                <a:ea typeface="Microsoft JhengHei UI"/>
              </a:rPr>
              <a:t>5,55,</a:t>
            </a:r>
            <a:r>
              <a:rPr lang="zh-TW" sz="1200" dirty="0">
                <a:latin typeface="Microsoft JhengHei UI"/>
                <a:ea typeface="Microsoft JhengHei UI"/>
              </a:rPr>
              <a:t>110,</a:t>
            </a:r>
            <a:r>
              <a:rPr lang="en-US" altLang="zh-TW" sz="1200" dirty="0">
                <a:latin typeface="Microsoft JhengHei UI"/>
                <a:ea typeface="Microsoft JhengHei UI"/>
              </a:rPr>
              <a:t>220,330,660]</a:t>
            </a:r>
            <a:r>
              <a:rPr lang="zh-TW" sz="1200" dirty="0">
                <a:latin typeface="Microsoft JhengHei UI"/>
                <a:ea typeface="Microsoft JhengHei UI"/>
              </a:rPr>
              <a:t>.</a:t>
            </a:r>
            <a:r>
              <a:rPr lang="en-US" altLang="zh-TW" sz="1200" dirty="0">
                <a:latin typeface="Microsoft JhengHei UI"/>
                <a:ea typeface="Microsoft JhengHei UI"/>
              </a:rPr>
              <a:t>choo</a:t>
            </a:r>
            <a:r>
              <a:rPr lang="zh-TW" sz="1200">
                <a:latin typeface="Microsoft JhengHei UI"/>
                <a:ea typeface="Microsoft JhengHei UI"/>
              </a:rPr>
              <a:t>s</a:t>
            </a:r>
            <a:r>
              <a:rPr lang="en-US" altLang="zh-TW" sz="1200" dirty="0">
                <a:latin typeface="Microsoft JhengHei UI"/>
                <a:ea typeface="Microsoft JhengHei UI"/>
              </a:rPr>
              <a:t>e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altLang="zh-TW" sz="1200" dirty="0">
                <a:latin typeface="Microsoft JhengHei UI"/>
                <a:ea typeface="Microsoft JhengHei UI"/>
              </a:rPr>
              <a:t>})</a:t>
            </a:r>
            <a:r>
              <a:rPr lang="zh-TW" sz="1200">
                <a:latin typeface="Microsoft JhengHei UI"/>
                <a:ea typeface="Microsoft JhengHei UI"/>
              </a:rPr>
              <a:t>;</a:t>
            </a:r>
            <a:endParaRPr lang="zh-TW"/>
          </a:p>
          <a:p>
            <a:pPr>
              <a:lnSpc>
                <a:spcPct val="90000"/>
              </a:lnSpc>
            </a:pPr>
            <a:r>
              <a:rPr lang="en-US" altLang="zh-TW" dirty="0">
                <a:latin typeface="Microsoft JhengHei UI"/>
                <a:ea typeface="Microsoft JhengHei UI"/>
              </a:rPr>
              <a:t>Changing tempo and harmonic/pitch field by </a:t>
            </a:r>
            <a:r>
              <a:rPr lang="en-US" altLang="zh-TW" dirty="0" err="1">
                <a:latin typeface="Microsoft JhengHei UI"/>
                <a:ea typeface="Microsoft JhengHei UI"/>
              </a:rPr>
              <a:t>probablity</a:t>
            </a:r>
            <a:endParaRPr lang="zh-TW" altLang="en-US" dirty="0" err="1">
              <a:latin typeface="Microsoft JhengHei UI"/>
              <a:ea typeface="Microsoft JhengHei UI"/>
            </a:endParaRPr>
          </a:p>
          <a:p>
            <a:pPr>
              <a:lnSpc>
                <a:spcPct val="90000"/>
              </a:lnSpc>
            </a:pPr>
            <a:r>
              <a:rPr lang="en-US" altLang="zh-TW" dirty="0">
                <a:latin typeface="Microsoft JhengHei UI"/>
                <a:ea typeface="Microsoft JhengHei UI"/>
              </a:rPr>
              <a:t>Tempo: 10%</a:t>
            </a:r>
            <a:endParaRPr lang="en-US" altLang="zh-TW" dirty="0"/>
          </a:p>
          <a:p>
            <a:pPr>
              <a:lnSpc>
                <a:spcPct val="90000"/>
              </a:lnSpc>
            </a:pPr>
            <a:r>
              <a:rPr lang="en-US" altLang="zh-TW" dirty="0" err="1">
                <a:latin typeface="Microsoft JhengHei UI"/>
                <a:ea typeface="Microsoft JhengHei UI"/>
              </a:rPr>
              <a:t>Basefreq</a:t>
            </a:r>
            <a:r>
              <a:rPr lang="en-US" altLang="zh-TW" dirty="0">
                <a:latin typeface="Microsoft JhengHei UI"/>
                <a:ea typeface="Microsoft JhengHei UI"/>
              </a:rPr>
              <a:t>; 2% (base on bass center)</a:t>
            </a:r>
            <a:endParaRPr lang="en-US" altLang="zh-TW" dirty="0"/>
          </a:p>
          <a:p>
            <a:pPr>
              <a:lnSpc>
                <a:spcPct val="90000"/>
              </a:lnSpc>
            </a:pPr>
            <a:endParaRPr lang="zh-TW" altLang="en-US" sz="1200" dirty="0"/>
          </a:p>
          <a:p>
            <a:pPr>
              <a:lnSpc>
                <a:spcPct val="90000"/>
              </a:lnSpc>
            </a:pPr>
            <a:endParaRPr lang="zh-TW" altLang="en-US" sz="1100"/>
          </a:p>
        </p:txBody>
      </p:sp>
      <p:sp>
        <p:nvSpPr>
          <p:cNvPr id="40" name="內容版面配置區 2">
            <a:extLst>
              <a:ext uri="{FF2B5EF4-FFF2-40B4-BE49-F238E27FC236}">
                <a16:creationId xmlns:a16="http://schemas.microsoft.com/office/drawing/2014/main" id="{E53ED016-5B4C-FC27-CD68-F3275D623BC5}"/>
              </a:ext>
            </a:extLst>
          </p:cNvPr>
          <p:cNvSpPr txBox="1">
            <a:spLocks/>
          </p:cNvSpPr>
          <p:nvPr/>
        </p:nvSpPr>
        <p:spPr>
          <a:xfrm>
            <a:off x="5875228" y="4183383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f-ZA" sz="1900">
                <a:latin typeface="Consolas"/>
                <a:ea typeface="Microsoft JhengHei UI"/>
              </a:rPr>
              <a:t>.fork(</a:t>
            </a:r>
            <a:r>
              <a:rPr lang="af-ZA" altLang="zh-TW" sz="1900">
                <a:latin typeface="Consolas"/>
                <a:ea typeface="Microsoft JhengHei UI"/>
              </a:rPr>
              <a:t>t</a:t>
            </a:r>
            <a:r>
              <a:rPr lang="af-ZA" sz="1900">
                <a:latin typeface="Consolas"/>
                <a:ea typeface="Microsoft JhengHei UI"/>
              </a:rPr>
              <a:t>)</a:t>
            </a:r>
            <a:r>
              <a:rPr lang="af-ZA" altLang="zh-TW" sz="1900">
                <a:latin typeface="Microsoft JhengHei UI"/>
                <a:ea typeface="Microsoft JhengHei UI"/>
              </a:rPr>
              <a:t> and </a:t>
            </a:r>
            <a:r>
              <a:rPr lang="af-ZA" sz="1900">
                <a:latin typeface="Consolas"/>
                <a:ea typeface="Microsoft JhengHei UI"/>
              </a:rPr>
              <a:t>.wait</a:t>
            </a:r>
            <a:endParaRPr lang="af-ZA" altLang="zh-TW"/>
          </a:p>
        </p:txBody>
      </p:sp>
      <p:sp>
        <p:nvSpPr>
          <p:cNvPr id="42" name="文字版面配置區 3">
            <a:extLst>
              <a:ext uri="{FF2B5EF4-FFF2-40B4-BE49-F238E27FC236}">
                <a16:creationId xmlns:a16="http://schemas.microsoft.com/office/drawing/2014/main" id="{A01EF8BD-9F03-04A5-94F7-5D5167F25066}"/>
              </a:ext>
            </a:extLst>
          </p:cNvPr>
          <p:cNvSpPr txBox="1">
            <a:spLocks/>
          </p:cNvSpPr>
          <p:nvPr/>
        </p:nvSpPr>
        <p:spPr>
          <a:xfrm>
            <a:off x="5874802" y="4550206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Microsoft JhengHei UI"/>
                <a:ea typeface="Microsoft JhengHei UI"/>
              </a:rPr>
              <a:t>}.fork(t)</a:t>
            </a:r>
            <a:endParaRPr lang="zh-TW" altLang="en-US" dirty="0"/>
          </a:p>
          <a:p>
            <a:r>
              <a:rPr lang="en-US" dirty="0">
                <a:latin typeface="Microsoft JhengHei UI"/>
                <a:ea typeface="Microsoft JhengHei UI"/>
              </a:rPr>
              <a:t>Use </a:t>
            </a:r>
            <a:r>
              <a:rPr lang="en-US" dirty="0" err="1">
                <a:latin typeface="Microsoft JhengHei UI"/>
                <a:ea typeface="Microsoft JhengHei UI"/>
              </a:rPr>
              <a:t>TempoClock</a:t>
            </a:r>
            <a:r>
              <a:rPr lang="en-US" dirty="0">
                <a:latin typeface="Microsoft JhengHei UI"/>
                <a:ea typeface="Microsoft JhengHei UI"/>
              </a:rPr>
              <a:t> (schedules relative to a tempo in beats per second.)</a:t>
            </a:r>
          </a:p>
          <a:p>
            <a:endParaRPr lang="en-US" sz="1200" dirty="0">
              <a:latin typeface="Microsoft JhengHei UI"/>
              <a:ea typeface="Microsoft JhengHei UI"/>
            </a:endParaRPr>
          </a:p>
          <a:p>
            <a:r>
              <a:rPr lang="en-US" sz="1200" dirty="0" err="1">
                <a:latin typeface="Microsoft JhengHei UI"/>
                <a:ea typeface="Microsoft JhengHei UI"/>
              </a:rPr>
              <a:t>ioiseries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.</a:t>
            </a:r>
            <a:r>
              <a:rPr lang="en-US" sz="1200" dirty="0" err="1">
                <a:latin typeface="Microsoft JhengHei UI"/>
                <a:ea typeface="Microsoft JhengHei UI"/>
              </a:rPr>
              <a:t>next</a:t>
            </a:r>
            <a:r>
              <a:rPr lang="en-US" altLang="zh-TW" sz="1200" dirty="0" err="1">
                <a:latin typeface="Microsoft JhengHei UI"/>
                <a:ea typeface="Microsoft JhengHei UI"/>
              </a:rPr>
              <a:t>.</a:t>
            </a:r>
            <a:r>
              <a:rPr lang="en-US" sz="1200" dirty="0" err="1">
                <a:latin typeface="Microsoft JhengHei UI"/>
                <a:ea typeface="Microsoft JhengHei UI"/>
              </a:rPr>
              <a:t>wait</a:t>
            </a:r>
            <a:r>
              <a:rPr lang="en-US" altLang="zh-TW" sz="1200" dirty="0">
                <a:latin typeface="Microsoft JhengHei UI"/>
                <a:ea typeface="Microsoft JhengHei UI"/>
              </a:rPr>
              <a:t>;</a:t>
            </a:r>
            <a:endParaRPr lang="en-US" sz="1200" dirty="0"/>
          </a:p>
          <a:p>
            <a:r>
              <a:rPr lang="en-US" altLang="zh-TW" dirty="0">
                <a:latin typeface="Microsoft JhengHei UI"/>
                <a:ea typeface="Microsoft JhengHei UI"/>
              </a:rPr>
              <a:t>And wait between arrays and events.</a:t>
            </a:r>
          </a:p>
          <a:p>
            <a:endParaRPr lang="en-US" altLang="zh-TW" sz="1200" dirty="0"/>
          </a:p>
          <a:p>
            <a:pPr>
              <a:lnSpc>
                <a:spcPct val="90000"/>
              </a:lnSpc>
            </a:pPr>
            <a:endParaRPr lang="en-US" altLang="zh-TW" dirty="0"/>
          </a:p>
          <a:p>
            <a:pPr>
              <a:lnSpc>
                <a:spcPct val="90000"/>
              </a:lnSpc>
            </a:pPr>
            <a:endParaRPr lang="en-US" altLang="zh-TW" dirty="0"/>
          </a:p>
          <a:p>
            <a:pPr>
              <a:lnSpc>
                <a:spcPct val="90000"/>
              </a:lnSpc>
            </a:pPr>
            <a:endParaRPr lang="zh-TW" altLang="en-US" sz="1200" dirty="0"/>
          </a:p>
          <a:p>
            <a:pPr>
              <a:lnSpc>
                <a:spcPct val="90000"/>
              </a:lnSpc>
            </a:pPr>
            <a:endParaRPr lang="zh-TW" altLang="en-US" sz="1100"/>
          </a:p>
        </p:txBody>
      </p:sp>
      <p:pic>
        <p:nvPicPr>
          <p:cNvPr id="43" name="圖片 42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F35A7FED-C0D8-9C01-A28C-D675EEEFC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75" y="1178003"/>
            <a:ext cx="4395058" cy="1435295"/>
          </a:xfrm>
          <a:prstGeom prst="rect">
            <a:avLst/>
          </a:prstGeom>
        </p:spPr>
      </p:pic>
      <p:pic>
        <p:nvPicPr>
          <p:cNvPr id="44" name="圖片 43" descr="一張含有 字型, 文字, 圖形, 螢幕擷取畫面 的圖片&#10;&#10;AI 產生的內容可能不正確。">
            <a:extLst>
              <a:ext uri="{FF2B5EF4-FFF2-40B4-BE49-F238E27FC236}">
                <a16:creationId xmlns:a16="http://schemas.microsoft.com/office/drawing/2014/main" id="{D8611335-8CCB-1232-EA84-F41F742E6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110" y="4181123"/>
            <a:ext cx="2466099" cy="194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57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3" y="306584"/>
            <a:ext cx="5111750" cy="1204912"/>
          </a:xfrm>
        </p:spPr>
        <p:txBody>
          <a:bodyPr rtlCol="0"/>
          <a:lstStyle/>
          <a:p>
            <a:r>
              <a:rPr lang="en-US" altLang="zh-TW" dirty="0">
                <a:latin typeface="Sabon Next LT"/>
                <a:cs typeface="Sabon Next LT"/>
              </a:rPr>
              <a:t>Aesthetic influence </a:t>
            </a:r>
            <a:endParaRPr lang="zh-TW" altLang="en-US" dirty="0">
              <a:latin typeface="Sabon Next LT"/>
              <a:cs typeface="Sabon Next LT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zh-TW"/>
              <a:t>20XX </a:t>
            </a:r>
            <a:r>
              <a:rPr lang="zh-TW" altLang="en-US"/>
              <a:t>年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CCA49D5-749C-99BF-7D6E-B43D1CE4CD1D}"/>
              </a:ext>
            </a:extLst>
          </p:cNvPr>
          <p:cNvSpPr txBox="1"/>
          <p:nvPr/>
        </p:nvSpPr>
        <p:spPr>
          <a:xfrm>
            <a:off x="984678" y="1969219"/>
            <a:ext cx="673416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altLang="zh-TW" sz="1900" cap="all" spc="150" dirty="0">
                <a:latin typeface="Consolas"/>
                <a:ea typeface="Microsoft JhengHei UI"/>
                <a:cs typeface="+mj-cs"/>
                <a:hlinkClick r:id="rId3"/>
              </a:rPr>
              <a:t>Karlheinz</a:t>
            </a:r>
            <a:r>
              <a:rPr lang="zh-TW" altLang="en-US" sz="1900" cap="all" spc="150" dirty="0">
                <a:latin typeface="Consolas"/>
                <a:ea typeface="Microsoft JhengHei UI"/>
                <a:cs typeface="+mj-cs"/>
                <a:hlinkClick r:id="rId3"/>
              </a:rPr>
              <a:t> </a:t>
            </a:r>
            <a:r>
              <a:rPr lang="en-US" altLang="zh-TW" sz="1900" cap="all" spc="150" dirty="0">
                <a:latin typeface="Consolas"/>
                <a:ea typeface="Microsoft JhengHei UI"/>
                <a:cs typeface="+mj-cs"/>
                <a:hlinkClick r:id="rId3"/>
              </a:rPr>
              <a:t>Stockhausen:</a:t>
            </a:r>
            <a:r>
              <a:rPr lang="zh-TW" altLang="en-US" sz="1900" cap="all" spc="150" dirty="0">
                <a:latin typeface="Consolas"/>
                <a:ea typeface="Microsoft JhengHei UI"/>
                <a:cs typeface="+mj-cs"/>
                <a:hlinkClick r:id="rId3"/>
              </a:rPr>
              <a:t> </a:t>
            </a:r>
            <a:r>
              <a:rPr lang="en-US" altLang="zh-TW" sz="1900" cap="all" spc="150" dirty="0">
                <a:latin typeface="Consolas"/>
                <a:ea typeface="Microsoft JhengHei UI"/>
                <a:cs typeface="+mj-cs"/>
                <a:hlinkClick r:id="rId3"/>
              </a:rPr>
              <a:t>Telemusik</a:t>
            </a:r>
            <a:r>
              <a:rPr lang="zh-TW" altLang="en-US" sz="1900" cap="all" spc="150" dirty="0">
                <a:latin typeface="Consolas"/>
                <a:ea typeface="Microsoft JhengHei UI"/>
                <a:cs typeface="+mj-cs"/>
                <a:hlinkClick r:id="rId3"/>
              </a:rPr>
              <a:t> </a:t>
            </a:r>
            <a:r>
              <a:rPr lang="en-US" altLang="zh-TW" sz="1900" cap="all" spc="150" dirty="0">
                <a:latin typeface="Consolas"/>
                <a:ea typeface="Microsoft JhengHei UI"/>
                <a:cs typeface="+mj-cs"/>
                <a:hlinkClick r:id="rId3"/>
              </a:rPr>
              <a:t>(1966)</a:t>
            </a:r>
            <a:endParaRPr lang="zh-TW" altLang="en-US" sz="1900" cap="all" spc="150" dirty="0">
              <a:latin typeface="Consolas"/>
              <a:ea typeface="Microsoft JhengHei UI"/>
              <a:cs typeface="+mj-cs"/>
            </a:endParaRPr>
          </a:p>
          <a:p>
            <a:pPr marL="342900" indent="-342900">
              <a:buFont typeface="Calibri"/>
              <a:buChar char="-"/>
            </a:pPr>
            <a:r>
              <a:rPr lang="en-US" sz="1900" cap="all" spc="150" dirty="0">
                <a:latin typeface="Consolas"/>
                <a:ea typeface="Microsoft JhengHei UI"/>
                <a:cs typeface="+mj-cs"/>
                <a:hlinkClick r:id="rId4"/>
              </a:rPr>
              <a:t>Karlheinz Stockhausen: Mixtur (1964)</a:t>
            </a:r>
            <a:endParaRPr lang="en-US" altLang="zh-TW" sz="1900" cap="all" spc="150" dirty="0">
              <a:latin typeface="Consolas"/>
              <a:ea typeface="Microsoft JhengHei UI"/>
              <a:cs typeface="+mj-cs"/>
            </a:endParaRPr>
          </a:p>
          <a:p>
            <a:pPr marL="342900" indent="-342900">
              <a:buFont typeface="Calibri"/>
              <a:buChar char="-"/>
            </a:pPr>
            <a:r>
              <a:rPr lang="en-US" sz="1900" cap="all" spc="150" dirty="0">
                <a:latin typeface="Consolas"/>
                <a:ea typeface="Microsoft JhengHei UI"/>
                <a:cs typeface="+mj-cs"/>
                <a:hlinkClick r:id="rId5"/>
              </a:rPr>
              <a:t>KONTAKTE (Stockhausen)</a:t>
            </a:r>
          </a:p>
          <a:p>
            <a:pPr marL="342900" indent="-342900">
              <a:buFont typeface="Calibri"/>
              <a:buChar char="-"/>
            </a:pPr>
            <a:endParaRPr lang="en-US" sz="1900" cap="all" spc="150" dirty="0">
              <a:latin typeface="Consolas"/>
              <a:ea typeface="Microsoft JhengHei UI"/>
            </a:endParaRPr>
          </a:p>
          <a:p>
            <a:pPr marL="342900" indent="-342900">
              <a:buFont typeface="Calibri"/>
              <a:buChar char="-"/>
            </a:pPr>
            <a:endParaRPr lang="en-US" sz="1900" cap="all" spc="150" dirty="0">
              <a:latin typeface="Consolas"/>
              <a:ea typeface="Microsoft JhengHei UI"/>
            </a:endParaRPr>
          </a:p>
          <a:p>
            <a:pPr marL="342900" indent="-342900">
              <a:buFont typeface="Calibri"/>
              <a:buChar char="-"/>
            </a:pPr>
            <a:endParaRPr lang="en-US" altLang="zh-TW" sz="1900" cap="all" spc="150" dirty="0">
              <a:latin typeface="Consolas"/>
              <a:ea typeface="Microsoft JhengHei UI"/>
            </a:endParaRPr>
          </a:p>
          <a:p>
            <a:endParaRPr lang="zh-TW" altLang="en-US" dirty="0">
              <a:latin typeface="Consolas"/>
            </a:endParaRPr>
          </a:p>
        </p:txBody>
      </p:sp>
      <p:pic>
        <p:nvPicPr>
          <p:cNvPr id="12" name="圖片 11" descr="一張含有 螢幕擷取畫面, 模糊的, 模糊, 戶外 的圖片&#10;&#10;AI 產生的內容可能不正確。">
            <a:extLst>
              <a:ext uri="{FF2B5EF4-FFF2-40B4-BE49-F238E27FC236}">
                <a16:creationId xmlns:a16="http://schemas.microsoft.com/office/drawing/2014/main" id="{589B78DB-38DD-67C8-F886-EA8D3E660A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843" y="3561591"/>
            <a:ext cx="4126545" cy="3086684"/>
          </a:xfrm>
          <a:prstGeom prst="rect">
            <a:avLst/>
          </a:prstGeom>
        </p:spPr>
      </p:pic>
      <p:pic>
        <p:nvPicPr>
          <p:cNvPr id="16" name="圖片 15" descr="一張含有 文字, 圖表 的圖片&#10;&#10;AI 產生的內容可能不正確。">
            <a:extLst>
              <a:ext uri="{FF2B5EF4-FFF2-40B4-BE49-F238E27FC236}">
                <a16:creationId xmlns:a16="http://schemas.microsoft.com/office/drawing/2014/main" id="{E2B074D2-DF64-DB4C-4D1D-9053FC1B7C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9445" y="3561941"/>
            <a:ext cx="6752349" cy="231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r>
              <a:rPr lang="zh-TW" altLang="en-US">
                <a:latin typeface="Microsoft JhengHei UI"/>
                <a:ea typeface="Microsoft JhengHei UI"/>
              </a:rPr>
              <a:t>Thank you ~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theme/theme1.xml><?xml version="1.0" encoding="utf-8"?>
<a:theme xmlns:a="http://schemas.openxmlformats.org/drawingml/2006/main" name="單線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8869_TF22318419_Win32" id="{484791FE-B89A-4873-A14B-ACF71875DAAB}" vid="{F8EC1E10-9DF0-490B-83D2-9448824E282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極簡風銷售宣傳</Template>
  <TotalTime>240</TotalTime>
  <Words>1493</Words>
  <Application>Microsoft Office PowerPoint</Application>
  <PresentationFormat>寬螢幕</PresentationFormat>
  <Paragraphs>328</Paragraphs>
  <Slides>9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單線</vt:lpstr>
      <vt:lpstr> Autohausen</vt:lpstr>
      <vt:lpstr>How it works</vt:lpstr>
      <vt:lpstr>PowerPoint 簡報</vt:lpstr>
      <vt:lpstr>Important techniques</vt:lpstr>
      <vt:lpstr>Music structure/system</vt:lpstr>
      <vt:lpstr>Music structure/system</vt:lpstr>
      <vt:lpstr>Music structure/system</vt:lpstr>
      <vt:lpstr>Aesthetic influence </vt:lpstr>
      <vt:lpstr>Thank you 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 Mike</dc:creator>
  <cp:lastModifiedBy>Tang Mike</cp:lastModifiedBy>
  <cp:revision>602</cp:revision>
  <dcterms:created xsi:type="dcterms:W3CDTF">2025-12-08T20:05:45Z</dcterms:created>
  <dcterms:modified xsi:type="dcterms:W3CDTF">2026-03-11T20:53:28Z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